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rot="0"/>
          <a:lstStyle/>
          <a:p>
            <a:pPr>
              <a:defRPr sz="1800" b="0" i="0" u="none" strike="noStrike">
                <a:solidFill>
                  <a:srgbClr val="000000"/>
                </a:solidFill>
                <a:latin typeface="Calibri"/>
              </a:defRPr>
            </a:pPr>
            <a:r>
              <a:rPr lang="en-PH" sz="1800" b="0" i="0" u="none" strike="noStrike">
                <a:solidFill>
                  <a:srgbClr val="000000"/>
                </a:solidFill>
                <a:latin typeface="Calibri"/>
              </a:rPr>
              <a:t>BLEU SCORE AVERAGE</a:t>
            </a:r>
          </a:p>
        </c:rich>
      </c:tx>
      <c:layout>
        <c:manualLayout>
          <c:xMode val="edge"/>
          <c:yMode val="edge"/>
          <c:x val="0.23555000000000001"/>
          <c:y val="0"/>
          <c:w val="0.52890099999999995"/>
          <c:h val="0.18784799999999999"/>
        </c:manualLayout>
      </c:layout>
      <c:overlay val="1"/>
      <c:spPr>
        <a:noFill/>
        <a:effectLst/>
      </c:spPr>
    </c:title>
    <c:autoTitleDeleted val="0"/>
    <c:plotArea>
      <c:layout>
        <c:manualLayout>
          <c:layoutTarget val="inner"/>
          <c:xMode val="edge"/>
          <c:yMode val="edge"/>
          <c:x val="0.14338000000000001"/>
          <c:y val="0.18784799999999999"/>
          <c:w val="0.85162000000000004"/>
          <c:h val="0.61651599999999995"/>
        </c:manualLayout>
      </c:layout>
      <c:barChart>
        <c:barDir val="col"/>
        <c:grouping val="stacked"/>
        <c:varyColors val="0"/>
        <c:ser>
          <c:idx val="0"/>
          <c:order val="0"/>
          <c:tx>
            <c:strRef>
              <c:f>Sheet1!$B$1</c:f>
              <c:strCache>
                <c:ptCount val="1"/>
                <c:pt idx="0">
                  <c:v>Models</c:v>
                </c:pt>
              </c:strCache>
            </c:strRef>
          </c:tx>
          <c:spPr>
            <a:solidFill>
              <a:schemeClr val="accent1"/>
            </a:solidFill>
            <a:ln w="12700" cap="flat">
              <a:noFill/>
              <a:miter lim="400000"/>
            </a:ln>
            <a:effectLst/>
          </c:spPr>
          <c:invertIfNegative val="0"/>
          <c:cat>
            <c:strRef>
              <c:f>Sheet1!$A$2:$A$3</c:f>
              <c:strCache>
                <c:ptCount val="2"/>
                <c:pt idx="0">
                  <c:v>Average Proposed Model</c:v>
                </c:pt>
                <c:pt idx="1">
                  <c:v>Average Base Model</c:v>
                </c:pt>
              </c:strCache>
            </c:strRef>
          </c:cat>
          <c:val>
            <c:numRef>
              <c:f>Sheet1!$B$2:$B$3</c:f>
              <c:numCache>
                <c:formatCode>General</c:formatCode>
                <c:ptCount val="2"/>
                <c:pt idx="0">
                  <c:v>0.26419999999999999</c:v>
                </c:pt>
                <c:pt idx="1">
                  <c:v>0.24809999999999999</c:v>
                </c:pt>
              </c:numCache>
            </c:numRef>
          </c:val>
          <c:extLst>
            <c:ext xmlns:c16="http://schemas.microsoft.com/office/drawing/2014/chart" uri="{C3380CC4-5D6E-409C-BE32-E72D297353CC}">
              <c16:uniqueId val="{00000000-591E-4780-81BD-9B6B947ED500}"/>
            </c:ext>
          </c:extLst>
        </c:ser>
        <c:dLbls>
          <c:showLegendKey val="0"/>
          <c:showVal val="0"/>
          <c:showCatName val="0"/>
          <c:showSerName val="0"/>
          <c:showPercent val="0"/>
          <c:showBubbleSize val="0"/>
        </c:dLbls>
        <c:gapWidth val="150"/>
        <c:overlap val="100"/>
        <c:axId val="2094734552"/>
        <c:axId val="2094734553"/>
      </c:barChart>
      <c:catAx>
        <c:axId val="2094734552"/>
        <c:scaling>
          <c:orientation val="minMax"/>
        </c:scaling>
        <c:delete val="0"/>
        <c:axPos val="b"/>
        <c:numFmt formatCode="General" sourceLinked="0"/>
        <c:majorTickMark val="none"/>
        <c:minorTickMark val="none"/>
        <c:tickLblPos val="none"/>
        <c:spPr>
          <a:ln w="12700" cap="flat">
            <a:noFill/>
            <a:prstDash val="solid"/>
            <a:miter lim="800000"/>
          </a:ln>
        </c:spPr>
        <c:txPr>
          <a:bodyPr rot="0"/>
          <a:lstStyle/>
          <a:p>
            <a:pPr>
              <a:defRPr sz="1000" b="0" i="0" u="none" strike="noStrike">
                <a:solidFill>
                  <a:srgbClr val="000000"/>
                </a:solidFill>
                <a:latin typeface="Calibri"/>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9D9D9"/>
              </a:solidFill>
              <a:prstDash val="solid"/>
              <a:round/>
            </a:ln>
          </c:spPr>
        </c:majorGridlines>
        <c:numFmt formatCode="0.00%" sourceLinked="0"/>
        <c:majorTickMark val="none"/>
        <c:minorTickMark val="none"/>
        <c:tickLblPos val="nextTo"/>
        <c:spPr>
          <a:ln w="12700" cap="flat">
            <a:noFill/>
            <a:prstDash val="solid"/>
            <a:miter lim="800000"/>
          </a:ln>
        </c:spPr>
        <c:txPr>
          <a:bodyPr rot="0"/>
          <a:lstStyle/>
          <a:p>
            <a:pPr>
              <a:defRPr sz="1100" b="0" i="0" u="none" strike="noStrike">
                <a:solidFill>
                  <a:srgbClr val="000000"/>
                </a:solidFill>
                <a:latin typeface="Calibri"/>
              </a:defRPr>
            </a:pPr>
            <a:endParaRPr lang="en-US"/>
          </a:p>
        </c:txPr>
        <c:crossAx val="2094734552"/>
        <c:crosses val="autoZero"/>
        <c:crossBetween val="between"/>
        <c:majorUnit val="7.4999999999999997E-2"/>
        <c:minorUnit val="3.7499999999999999E-2"/>
      </c:valAx>
      <c:spPr>
        <a:noFill/>
        <a:ln w="12700" cap="flat">
          <a:noFill/>
          <a:miter lim="400000"/>
        </a:ln>
        <a:effectLst/>
      </c:spPr>
    </c:plotArea>
    <c:legend>
      <c:legendPos val="b"/>
      <c:layout>
        <c:manualLayout>
          <c:xMode val="edge"/>
          <c:yMode val="edge"/>
          <c:x val="0.42577999999999999"/>
          <c:y val="0.920902"/>
          <c:w val="0.19035199999999999"/>
          <c:h val="7.9098199999999994E-2"/>
        </c:manualLayout>
      </c:layout>
      <c:overlay val="1"/>
      <c:spPr>
        <a:noFill/>
        <a:ln w="12700" cap="flat">
          <a:noFill/>
          <a:miter lim="400000"/>
        </a:ln>
        <a:effectLst/>
      </c:spPr>
      <c:txPr>
        <a:bodyPr rot="0"/>
        <a:lstStyle/>
        <a:p>
          <a:pPr>
            <a:defRPr sz="1100" b="0" i="0" u="none" strike="noStrike">
              <a:solidFill>
                <a:srgbClr val="000000"/>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rot="0"/>
          <a:lstStyle/>
          <a:p>
            <a:pPr>
              <a:defRPr sz="1800" b="0" i="0" u="none" strike="noStrike">
                <a:solidFill>
                  <a:srgbClr val="595959"/>
                </a:solidFill>
                <a:latin typeface="Calibri"/>
              </a:defRPr>
            </a:pPr>
            <a:r>
              <a:rPr lang="en-PH" sz="1800" b="0" i="0" u="none" strike="noStrike">
                <a:solidFill>
                  <a:srgbClr val="595959"/>
                </a:solidFill>
                <a:latin typeface="Calibri"/>
              </a:rPr>
              <a:t>Average Probability Score</a:t>
            </a:r>
          </a:p>
        </c:rich>
      </c:tx>
      <c:layout>
        <c:manualLayout>
          <c:xMode val="edge"/>
          <c:yMode val="edge"/>
          <c:x val="0.19714100000000001"/>
          <c:y val="0"/>
          <c:w val="0.60571799999999998"/>
          <c:h val="0.18784799999999999"/>
        </c:manualLayout>
      </c:layout>
      <c:overlay val="1"/>
      <c:spPr>
        <a:noFill/>
        <a:effectLst/>
      </c:spPr>
    </c:title>
    <c:autoTitleDeleted val="0"/>
    <c:plotArea>
      <c:layout>
        <c:manualLayout>
          <c:layoutTarget val="inner"/>
          <c:xMode val="edge"/>
          <c:yMode val="edge"/>
          <c:x val="0.14338000000000001"/>
          <c:y val="0.18784799999999999"/>
          <c:w val="0.85162000000000004"/>
          <c:h val="0.61651599999999995"/>
        </c:manualLayout>
      </c:layout>
      <c:barChart>
        <c:barDir val="col"/>
        <c:grouping val="stacked"/>
        <c:varyColors val="0"/>
        <c:ser>
          <c:idx val="0"/>
          <c:order val="0"/>
          <c:tx>
            <c:strRef>
              <c:f>Sheet1!$B$1</c:f>
              <c:strCache>
                <c:ptCount val="1"/>
                <c:pt idx="0">
                  <c:v>Model</c:v>
                </c:pt>
              </c:strCache>
            </c:strRef>
          </c:tx>
          <c:spPr>
            <a:solidFill>
              <a:schemeClr val="accent1"/>
            </a:solidFill>
            <a:ln w="12700" cap="flat">
              <a:noFill/>
              <a:miter lim="400000"/>
            </a:ln>
            <a:effectLst/>
          </c:spPr>
          <c:invertIfNegative val="0"/>
          <c:cat>
            <c:strRef>
              <c:f>Sheet1!$A$2:$A$3</c:f>
              <c:strCache>
                <c:ptCount val="2"/>
                <c:pt idx="0">
                  <c:v>Proposed Model Average</c:v>
                </c:pt>
                <c:pt idx="1">
                  <c:v>Base Model Average</c:v>
                </c:pt>
              </c:strCache>
            </c:strRef>
          </c:cat>
          <c:val>
            <c:numRef>
              <c:f>Sheet1!$B$2:$B$3</c:f>
              <c:numCache>
                <c:formatCode>General</c:formatCode>
                <c:ptCount val="2"/>
                <c:pt idx="0">
                  <c:v>0.6825</c:v>
                </c:pt>
                <c:pt idx="1">
                  <c:v>0.55349999999999999</c:v>
                </c:pt>
              </c:numCache>
            </c:numRef>
          </c:val>
          <c:extLst>
            <c:ext xmlns:c16="http://schemas.microsoft.com/office/drawing/2014/chart" uri="{C3380CC4-5D6E-409C-BE32-E72D297353CC}">
              <c16:uniqueId val="{00000000-62BD-4121-8D53-89C5157B5D9D}"/>
            </c:ext>
          </c:extLst>
        </c:ser>
        <c:dLbls>
          <c:showLegendKey val="0"/>
          <c:showVal val="0"/>
          <c:showCatName val="0"/>
          <c:showSerName val="0"/>
          <c:showPercent val="0"/>
          <c:showBubbleSize val="0"/>
        </c:dLbls>
        <c:gapWidth val="150"/>
        <c:overlap val="100"/>
        <c:axId val="2094734552"/>
        <c:axId val="2094734553"/>
      </c:barChart>
      <c:catAx>
        <c:axId val="2094734552"/>
        <c:scaling>
          <c:orientation val="minMax"/>
        </c:scaling>
        <c:delete val="0"/>
        <c:axPos val="b"/>
        <c:numFmt formatCode="General" sourceLinked="0"/>
        <c:majorTickMark val="none"/>
        <c:minorTickMark val="none"/>
        <c:tickLblPos val="none"/>
        <c:spPr>
          <a:ln w="12700" cap="flat">
            <a:noFill/>
            <a:prstDash val="solid"/>
            <a:miter lim="800000"/>
          </a:ln>
        </c:spPr>
        <c:txPr>
          <a:bodyPr rot="0"/>
          <a:lstStyle/>
          <a:p>
            <a:pPr>
              <a:defRPr sz="1000" b="0" i="0" u="none" strike="noStrike">
                <a:solidFill>
                  <a:srgbClr val="000000"/>
                </a:solidFill>
                <a:latin typeface="Calibri"/>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9D9D9"/>
              </a:solidFill>
              <a:prstDash val="solid"/>
              <a:round/>
            </a:ln>
          </c:spPr>
        </c:majorGridlines>
        <c:numFmt formatCode="0.00%" sourceLinked="0"/>
        <c:majorTickMark val="none"/>
        <c:minorTickMark val="none"/>
        <c:tickLblPos val="nextTo"/>
        <c:spPr>
          <a:ln w="12700" cap="flat">
            <a:noFill/>
            <a:prstDash val="solid"/>
            <a:miter lim="800000"/>
          </a:ln>
        </c:spPr>
        <c:txPr>
          <a:bodyPr rot="0"/>
          <a:lstStyle/>
          <a:p>
            <a:pPr>
              <a:defRPr sz="1100" b="0" i="0" u="none" strike="noStrike">
                <a:solidFill>
                  <a:srgbClr val="595959"/>
                </a:solidFill>
                <a:latin typeface="Calibri"/>
              </a:defRPr>
            </a:pPr>
            <a:endParaRPr lang="en-US"/>
          </a:p>
        </c:txPr>
        <c:crossAx val="2094734552"/>
        <c:crosses val="autoZero"/>
        <c:crossBetween val="between"/>
        <c:majorUnit val="0.17499999999999999"/>
        <c:minorUnit val="8.7499999999999994E-2"/>
      </c:valAx>
      <c:spPr>
        <a:noFill/>
        <a:ln w="12700" cap="flat">
          <a:noFill/>
          <a:miter lim="400000"/>
        </a:ln>
        <a:effectLst/>
      </c:spPr>
    </c:plotArea>
    <c:legend>
      <c:legendPos val="b"/>
      <c:layout>
        <c:manualLayout>
          <c:xMode val="edge"/>
          <c:yMode val="edge"/>
          <c:x val="0.43271999999999999"/>
          <c:y val="0.920902"/>
          <c:w val="0.17588500000000001"/>
          <c:h val="7.9098299999999996E-2"/>
        </c:manualLayout>
      </c:layout>
      <c:overlay val="1"/>
      <c:spPr>
        <a:noFill/>
        <a:ln w="12700" cap="flat">
          <a:noFill/>
          <a:miter lim="400000"/>
        </a:ln>
        <a:effectLst/>
      </c:spPr>
      <c:txPr>
        <a:bodyPr rot="0"/>
        <a:lstStyle/>
        <a:p>
          <a:pPr>
            <a:defRPr sz="1100" b="0" i="0" u="none" strike="noStrike">
              <a:solidFill>
                <a:srgbClr val="595959"/>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rot="0"/>
          <a:lstStyle/>
          <a:p>
            <a:pPr>
              <a:defRPr sz="1100" b="0" i="0" u="none" strike="noStrike">
                <a:solidFill>
                  <a:srgbClr val="595959"/>
                </a:solidFill>
                <a:latin typeface="Calibri"/>
              </a:defRPr>
            </a:pPr>
            <a:r>
              <a:rPr lang="en-US" sz="1100" b="0" i="0" u="none" strike="noStrike">
                <a:solidFill>
                  <a:srgbClr val="595959"/>
                </a:solidFill>
                <a:latin typeface="Calibri"/>
              </a:rPr>
              <a:t>Frequency Count by Error - Tagalog</a:t>
            </a:r>
          </a:p>
        </c:rich>
      </c:tx>
      <c:layout>
        <c:manualLayout>
          <c:xMode val="edge"/>
          <c:yMode val="edge"/>
          <c:x val="0.265849"/>
          <c:y val="0"/>
          <c:w val="0.468302"/>
          <c:h val="0.107989"/>
        </c:manualLayout>
      </c:layout>
      <c:overlay val="1"/>
      <c:spPr>
        <a:noFill/>
        <a:effectLst/>
      </c:spPr>
    </c:title>
    <c:autoTitleDeleted val="0"/>
    <c:plotArea>
      <c:layout>
        <c:manualLayout>
          <c:layoutTarget val="inner"/>
          <c:xMode val="edge"/>
          <c:yMode val="edge"/>
          <c:x val="5.8335499999999998E-2"/>
          <c:y val="0.107989"/>
          <c:w val="0.93666499999999997"/>
          <c:h val="0.721746"/>
        </c:manualLayout>
      </c:layout>
      <c:barChart>
        <c:barDir val="col"/>
        <c:grouping val="clustered"/>
        <c:varyColors val="0"/>
        <c:ser>
          <c:idx val="0"/>
          <c:order val="0"/>
          <c:tx>
            <c:strRef>
              <c:f>Sheet1!$B$1</c:f>
              <c:strCache>
                <c:ptCount val="1"/>
                <c:pt idx="0">
                  <c:v>Proposed</c:v>
                </c:pt>
              </c:strCache>
            </c:strRef>
          </c:tx>
          <c:spPr>
            <a:solidFill>
              <a:schemeClr val="accent1"/>
            </a:solidFill>
            <a:ln w="12700" cap="flat">
              <a:noFill/>
              <a:miter lim="400000"/>
            </a:ln>
            <a:effectLst/>
          </c:spPr>
          <c:invertIfNegative val="0"/>
          <c:cat>
            <c:strRef>
              <c:f>Sheet1!$A$2:$A$4</c:f>
              <c:strCache>
                <c:ptCount val="3"/>
                <c:pt idx="0">
                  <c:v>Mistranslated</c:v>
                </c:pt>
                <c:pt idx="1">
                  <c:v>Translated</c:v>
                </c:pt>
                <c:pt idx="2">
                  <c:v>Unstranslatable</c:v>
                </c:pt>
              </c:strCache>
            </c:strRef>
          </c:cat>
          <c:val>
            <c:numRef>
              <c:f>Sheet1!$B$2:$B$4</c:f>
              <c:numCache>
                <c:formatCode>General</c:formatCode>
                <c:ptCount val="3"/>
                <c:pt idx="0">
                  <c:v>8</c:v>
                </c:pt>
                <c:pt idx="1">
                  <c:v>39</c:v>
                </c:pt>
                <c:pt idx="2">
                  <c:v>44</c:v>
                </c:pt>
              </c:numCache>
            </c:numRef>
          </c:val>
          <c:extLst>
            <c:ext xmlns:c16="http://schemas.microsoft.com/office/drawing/2014/chart" uri="{C3380CC4-5D6E-409C-BE32-E72D297353CC}">
              <c16:uniqueId val="{00000000-F3AB-40D7-9DE0-D605EB945AF0}"/>
            </c:ext>
          </c:extLst>
        </c:ser>
        <c:ser>
          <c:idx val="1"/>
          <c:order val="1"/>
          <c:tx>
            <c:strRef>
              <c:f>Sheet1!$C$1</c:f>
              <c:strCache>
                <c:ptCount val="1"/>
                <c:pt idx="0">
                  <c:v>Baseline</c:v>
                </c:pt>
              </c:strCache>
            </c:strRef>
          </c:tx>
          <c:spPr>
            <a:solidFill>
              <a:schemeClr val="accent2"/>
            </a:solidFill>
            <a:ln w="12700" cap="flat">
              <a:noFill/>
              <a:miter lim="400000"/>
            </a:ln>
            <a:effectLst/>
          </c:spPr>
          <c:invertIfNegative val="0"/>
          <c:cat>
            <c:strRef>
              <c:f>Sheet1!$A$2:$A$4</c:f>
              <c:strCache>
                <c:ptCount val="3"/>
                <c:pt idx="0">
                  <c:v>Mistranslated</c:v>
                </c:pt>
                <c:pt idx="1">
                  <c:v>Translated</c:v>
                </c:pt>
                <c:pt idx="2">
                  <c:v>Unstranslatable</c:v>
                </c:pt>
              </c:strCache>
            </c:strRef>
          </c:cat>
          <c:val>
            <c:numRef>
              <c:f>Sheet1!$C$2:$C$4</c:f>
              <c:numCache>
                <c:formatCode>General</c:formatCode>
                <c:ptCount val="3"/>
                <c:pt idx="0">
                  <c:v>13</c:v>
                </c:pt>
                <c:pt idx="1">
                  <c:v>30</c:v>
                </c:pt>
                <c:pt idx="2">
                  <c:v>48</c:v>
                </c:pt>
              </c:numCache>
            </c:numRef>
          </c:val>
          <c:extLst>
            <c:ext xmlns:c16="http://schemas.microsoft.com/office/drawing/2014/chart" uri="{C3380CC4-5D6E-409C-BE32-E72D297353CC}">
              <c16:uniqueId val="{00000001-F3AB-40D7-9DE0-D605EB945AF0}"/>
            </c:ext>
          </c:extLst>
        </c:ser>
        <c:dLbls>
          <c:showLegendKey val="0"/>
          <c:showVal val="0"/>
          <c:showCatName val="0"/>
          <c:showSerName val="0"/>
          <c:showPercent val="0"/>
          <c:showBubbleSize val="0"/>
        </c:dLbls>
        <c:gapWidth val="219"/>
        <c:overlap val="-27"/>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sz="900" b="0" i="0" u="none" strike="noStrike">
                <a:solidFill>
                  <a:srgbClr val="595959"/>
                </a:solidFill>
                <a:latin typeface="Calibri"/>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sz="900" b="0" i="0" u="none" strike="noStrike">
                <a:solidFill>
                  <a:srgbClr val="595959"/>
                </a:solidFill>
                <a:latin typeface="Calibri"/>
              </a:defRPr>
            </a:pPr>
            <a:endParaRPr lang="en-US"/>
          </a:p>
        </c:txPr>
        <c:crossAx val="2094734552"/>
        <c:crosses val="autoZero"/>
        <c:crossBetween val="between"/>
        <c:majorUnit val="12.5"/>
        <c:minorUnit val="6.25"/>
      </c:valAx>
      <c:spPr>
        <a:noFill/>
        <a:ln w="12700" cap="flat">
          <a:noFill/>
          <a:miter lim="400000"/>
        </a:ln>
        <a:effectLst/>
      </c:spPr>
    </c:plotArea>
    <c:legend>
      <c:legendPos val="b"/>
      <c:layout>
        <c:manualLayout>
          <c:xMode val="edge"/>
          <c:yMode val="edge"/>
          <c:x val="0.34798099999999998"/>
          <c:y val="0.93780200000000002"/>
          <c:w val="0.34305600000000003"/>
          <c:h val="6.2198000000000003E-2"/>
        </c:manualLayout>
      </c:layout>
      <c:overlay val="1"/>
      <c:spPr>
        <a:noFill/>
        <a:ln w="12700" cap="flat">
          <a:noFill/>
          <a:miter lim="400000"/>
        </a:ln>
        <a:effectLst/>
      </c:spPr>
      <c:txPr>
        <a:bodyPr rot="0"/>
        <a:lstStyle/>
        <a:p>
          <a:pPr>
            <a:defRPr sz="900" b="0" i="0" u="none" strike="noStrike">
              <a:solidFill>
                <a:srgbClr val="595959"/>
              </a:solidFill>
              <a:latin typeface="Calibri"/>
            </a:defRPr>
          </a:pPr>
          <a:endParaRPr lang="en-US"/>
        </a:p>
      </c:txPr>
    </c:legend>
    <c:plotVisOnly val="1"/>
    <c:dispBlanksAs val="gap"/>
    <c:showDLblsOverMax val="1"/>
  </c:chart>
  <c:spPr>
    <a:solidFill>
      <a:srgbClr val="FFFFFF"/>
    </a:solidFill>
    <a:ln w="12700" cap="flat">
      <a:solidFill>
        <a:srgbClr val="D9D9D9"/>
      </a:solidFill>
      <a:prstDash val="solid"/>
      <a:round/>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rot="0"/>
          <a:lstStyle/>
          <a:p>
            <a:pPr>
              <a:defRPr sz="1200" b="0" i="0" u="none" strike="noStrike">
                <a:solidFill>
                  <a:srgbClr val="595959"/>
                </a:solidFill>
                <a:latin typeface="Calibri"/>
              </a:defRPr>
            </a:pPr>
            <a:r>
              <a:rPr lang="en-US" sz="1200" b="0" i="0" u="none" strike="noStrike">
                <a:solidFill>
                  <a:srgbClr val="595959"/>
                </a:solidFill>
                <a:latin typeface="Calibri"/>
              </a:rPr>
              <a:t>Frequency Count by Error - Hiligaynon</a:t>
            </a:r>
          </a:p>
        </c:rich>
      </c:tx>
      <c:layout>
        <c:manualLayout>
          <c:xMode val="edge"/>
          <c:yMode val="edge"/>
          <c:x val="0.239817"/>
          <c:y val="0"/>
          <c:w val="0.520366"/>
          <c:h val="0.11880599999999999"/>
        </c:manualLayout>
      </c:layout>
      <c:overlay val="1"/>
      <c:spPr>
        <a:noFill/>
        <a:effectLst/>
      </c:spPr>
    </c:title>
    <c:autoTitleDeleted val="0"/>
    <c:plotArea>
      <c:layout>
        <c:manualLayout>
          <c:layoutTarget val="inner"/>
          <c:xMode val="edge"/>
          <c:yMode val="edge"/>
          <c:x val="5.5007899999999998E-2"/>
          <c:y val="0.11880599999999999"/>
          <c:w val="0.93999200000000005"/>
          <c:h val="0.70958100000000002"/>
        </c:manualLayout>
      </c:layout>
      <c:barChart>
        <c:barDir val="col"/>
        <c:grouping val="clustered"/>
        <c:varyColors val="0"/>
        <c:ser>
          <c:idx val="0"/>
          <c:order val="0"/>
          <c:tx>
            <c:strRef>
              <c:f>Sheet1!$B$1</c:f>
              <c:strCache>
                <c:ptCount val="1"/>
                <c:pt idx="0">
                  <c:v>Proposed</c:v>
                </c:pt>
              </c:strCache>
            </c:strRef>
          </c:tx>
          <c:spPr>
            <a:solidFill>
              <a:schemeClr val="accent1"/>
            </a:solidFill>
            <a:ln w="12700" cap="flat">
              <a:noFill/>
              <a:miter lim="400000"/>
            </a:ln>
            <a:effectLst/>
          </c:spPr>
          <c:invertIfNegative val="0"/>
          <c:cat>
            <c:strRef>
              <c:f>Sheet1!$A$2:$A$4</c:f>
              <c:strCache>
                <c:ptCount val="3"/>
                <c:pt idx="0">
                  <c:v>Mistranslated</c:v>
                </c:pt>
                <c:pt idx="1">
                  <c:v>Translated</c:v>
                </c:pt>
                <c:pt idx="2">
                  <c:v>Unstranslatable</c:v>
                </c:pt>
              </c:strCache>
            </c:strRef>
          </c:cat>
          <c:val>
            <c:numRef>
              <c:f>Sheet1!$B$2:$B$4</c:f>
              <c:numCache>
                <c:formatCode>General</c:formatCode>
                <c:ptCount val="3"/>
                <c:pt idx="0">
                  <c:v>6</c:v>
                </c:pt>
                <c:pt idx="1">
                  <c:v>37</c:v>
                </c:pt>
                <c:pt idx="2">
                  <c:v>45</c:v>
                </c:pt>
              </c:numCache>
            </c:numRef>
          </c:val>
          <c:extLst>
            <c:ext xmlns:c16="http://schemas.microsoft.com/office/drawing/2014/chart" uri="{C3380CC4-5D6E-409C-BE32-E72D297353CC}">
              <c16:uniqueId val="{00000000-BF01-4A0A-B4B4-ED71661F1B1E}"/>
            </c:ext>
          </c:extLst>
        </c:ser>
        <c:ser>
          <c:idx val="1"/>
          <c:order val="1"/>
          <c:tx>
            <c:strRef>
              <c:f>Sheet1!$C$1</c:f>
              <c:strCache>
                <c:ptCount val="1"/>
                <c:pt idx="0">
                  <c:v>Baseline</c:v>
                </c:pt>
              </c:strCache>
            </c:strRef>
          </c:tx>
          <c:spPr>
            <a:solidFill>
              <a:schemeClr val="accent2"/>
            </a:solidFill>
            <a:ln w="12700" cap="flat">
              <a:noFill/>
              <a:miter lim="400000"/>
            </a:ln>
            <a:effectLst/>
          </c:spPr>
          <c:invertIfNegative val="0"/>
          <c:cat>
            <c:strRef>
              <c:f>Sheet1!$A$2:$A$4</c:f>
              <c:strCache>
                <c:ptCount val="3"/>
                <c:pt idx="0">
                  <c:v>Mistranslated</c:v>
                </c:pt>
                <c:pt idx="1">
                  <c:v>Translated</c:v>
                </c:pt>
                <c:pt idx="2">
                  <c:v>Unstranslatable</c:v>
                </c:pt>
              </c:strCache>
            </c:strRef>
          </c:cat>
          <c:val>
            <c:numRef>
              <c:f>Sheet1!$C$2:$C$4</c:f>
              <c:numCache>
                <c:formatCode>General</c:formatCode>
                <c:ptCount val="3"/>
                <c:pt idx="0">
                  <c:v>10</c:v>
                </c:pt>
                <c:pt idx="1">
                  <c:v>29</c:v>
                </c:pt>
                <c:pt idx="2">
                  <c:v>49</c:v>
                </c:pt>
              </c:numCache>
            </c:numRef>
          </c:val>
          <c:extLst>
            <c:ext xmlns:c16="http://schemas.microsoft.com/office/drawing/2014/chart" uri="{C3380CC4-5D6E-409C-BE32-E72D297353CC}">
              <c16:uniqueId val="{00000001-BF01-4A0A-B4B4-ED71661F1B1E}"/>
            </c:ext>
          </c:extLst>
        </c:ser>
        <c:dLbls>
          <c:showLegendKey val="0"/>
          <c:showVal val="0"/>
          <c:showCatName val="0"/>
          <c:showSerName val="0"/>
          <c:showPercent val="0"/>
          <c:showBubbleSize val="0"/>
        </c:dLbls>
        <c:gapWidth val="219"/>
        <c:overlap val="-27"/>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sz="900" b="0" i="0" u="none" strike="noStrike">
                <a:solidFill>
                  <a:srgbClr val="595959"/>
                </a:solidFill>
                <a:latin typeface="Calibri"/>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sz="900" b="0" i="0" u="none" strike="noStrike">
                <a:solidFill>
                  <a:srgbClr val="595959"/>
                </a:solidFill>
                <a:latin typeface="Calibri"/>
              </a:defRPr>
            </a:pPr>
            <a:endParaRPr lang="en-US"/>
          </a:p>
        </c:txPr>
        <c:crossAx val="2094734552"/>
        <c:crosses val="autoZero"/>
        <c:crossBetween val="between"/>
        <c:majorUnit val="12.5"/>
        <c:minorUnit val="6.25"/>
      </c:valAx>
      <c:spPr>
        <a:noFill/>
        <a:ln w="12700" cap="flat">
          <a:noFill/>
          <a:miter lim="400000"/>
        </a:ln>
        <a:effectLst/>
      </c:spPr>
    </c:plotArea>
    <c:legend>
      <c:legendPos val="b"/>
      <c:layout>
        <c:manualLayout>
          <c:xMode val="edge"/>
          <c:yMode val="edge"/>
          <c:x val="0.357765"/>
          <c:y val="0.93737700000000002"/>
          <c:w val="0.32348700000000002"/>
          <c:h val="6.26226E-2"/>
        </c:manualLayout>
      </c:layout>
      <c:overlay val="1"/>
      <c:spPr>
        <a:noFill/>
        <a:ln w="12700" cap="flat">
          <a:noFill/>
          <a:miter lim="400000"/>
        </a:ln>
        <a:effectLst/>
      </c:spPr>
      <c:txPr>
        <a:bodyPr rot="0"/>
        <a:lstStyle/>
        <a:p>
          <a:pPr>
            <a:defRPr sz="900" b="0" i="0" u="none" strike="noStrike">
              <a:solidFill>
                <a:srgbClr val="595959"/>
              </a:solidFill>
              <a:latin typeface="Calibri"/>
            </a:defRPr>
          </a:pPr>
          <a:endParaRPr lang="en-US"/>
        </a:p>
      </c:txPr>
    </c:legend>
    <c:plotVisOnly val="1"/>
    <c:dispBlanksAs val="gap"/>
    <c:showDLblsOverMax val="1"/>
  </c:chart>
  <c:spPr>
    <a:solidFill>
      <a:srgbClr val="FFFFFF"/>
    </a:solidFill>
    <a:ln w="12700" cap="flat">
      <a:solidFill>
        <a:srgbClr val="D9D9D9"/>
      </a:solidFill>
      <a:prstDash val="solid"/>
      <a:round/>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a:spLocks noGrp="1" noRot="1" noChangeAspect="1"/>
          </p:cNvSpPr>
          <p:nvPr>
            <p:ph type="sldImg"/>
          </p:nvPr>
        </p:nvSpPr>
        <p:spPr>
          <a:xfrm>
            <a:off x="381000" y="685800"/>
            <a:ext cx="6096000" cy="3429000"/>
          </a:xfrm>
          <a:prstGeom prst="rect">
            <a:avLst/>
          </a:prstGeom>
        </p:spPr>
        <p:txBody>
          <a:bodyPr/>
          <a:lstStyle/>
          <a:p>
            <a:endParaRPr/>
          </a:p>
        </p:txBody>
      </p:sp>
      <p:sp>
        <p:nvSpPr>
          <p:cNvPr id="103" name="Shape 103"/>
          <p:cNvSpPr>
            <a:spLocks noGrp="1"/>
          </p:cNvSpPr>
          <p:nvPr>
            <p:ph type="body" sz="quarter" idx="1"/>
          </p:nvPr>
        </p:nvSpPr>
        <p:spPr>
          <a:prstGeom prst="rect">
            <a:avLst/>
          </a:prstGeom>
        </p:spPr>
        <p:txBody>
          <a:bodyPr/>
          <a:lstStyle/>
          <a:p>
            <a:r>
              <a:t>(0:30) Title and team introduc1on</a:t>
            </a:r>
          </a:p>
          <a:p>
            <a:r>
              <a:t> • (1:00) The problem of the study and motivation</a:t>
            </a:r>
          </a:p>
          <a:p>
            <a:r>
              <a:t> • (1:00) Research objectives </a:t>
            </a:r>
          </a:p>
          <a:p>
            <a:r>
              <a:t>• (1:00) Research method </a:t>
            </a:r>
          </a:p>
          <a:p>
            <a:r>
              <a:t>•  (10:00) Software demo</a:t>
            </a:r>
          </a:p>
          <a:p>
            <a:r>
              <a:t>• (1:30) Results and conclusions (for Final)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spcBef>
                <a:spcPts val="300"/>
              </a:spcBef>
              <a:defRPr sz="3200" b="1">
                <a:latin typeface="Helvetica Neue"/>
                <a:ea typeface="Helvetica Neue"/>
                <a:cs typeface="Helvetica Neue"/>
                <a:sym typeface="Helvetica Neue"/>
              </a:defRPr>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hyperlink" Target="http://doi.acm.org/10.1145/964696.964697" TargetMode="External"/><Relationship Id="rId13" Type="http://schemas.openxmlformats.org/officeDocument/2006/relationships/hyperlink" Target="https://doi.org/10.1109/ICT4DA56482.2022.9971194" TargetMode="External"/><Relationship Id="rId3" Type="http://schemas.openxmlformats.org/officeDocument/2006/relationships/image" Target="../media/image4.png"/><Relationship Id="rId7" Type="http://schemas.openxmlformats.org/officeDocument/2006/relationships/hyperlink" Target="http://doi.acm.org/10.1145/161468.161471" TargetMode="External"/><Relationship Id="rId12" Type="http://schemas.openxmlformats.org/officeDocument/2006/relationships/hyperlink" Target="https://doi.org/10.1109/snams.2019.8931839"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oi.org/10.1007/978-3-030-73689-7_16" TargetMode="External"/><Relationship Id="rId11" Type="http://schemas.openxmlformats.org/officeDocument/2006/relationships/hyperlink" Target="https://doi.org/10.1016/j.engappai.2019.05.003" TargetMode="External"/><Relationship Id="rId5" Type="http://schemas.openxmlformats.org/officeDocument/2006/relationships/hyperlink" Target="https://arxiv.org/pdf/2004.13840.pdf" TargetMode="External"/><Relationship Id="rId15" Type="http://schemas.openxmlformats.org/officeDocument/2006/relationships/hyperlink" Target="https://doi.org/10.1587/transinf.2019edp7154" TargetMode="External"/><Relationship Id="rId10" Type="http://schemas.openxmlformats.org/officeDocument/2006/relationships/hyperlink" Target="https://arxiv.org/pdf/1911.03648" TargetMode="External"/><Relationship Id="rId4" Type="http://schemas.openxmlformats.org/officeDocument/2006/relationships/image" Target="../media/image5.png"/><Relationship Id="rId9" Type="http://schemas.openxmlformats.org/officeDocument/2006/relationships/hyperlink" Target="https://doi.org/10.1515/jisys-2020-0021" TargetMode="External"/><Relationship Id="rId14" Type="http://schemas.openxmlformats.org/officeDocument/2006/relationships/hyperlink" Target="https://ieeexplore.ieee.org/stamp/stamp.jsp?arnumber=8865046"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iopscience.iop.org/article/10.1088/1757-899X/1131/1/012007/pdf" TargetMode="External"/><Relationship Id="rId13" Type="http://schemas.openxmlformats.org/officeDocument/2006/relationships/hyperlink" Target="https://aclanthology.org/P00-1056.pdf" TargetMode="External"/><Relationship Id="rId3" Type="http://schemas.openxmlformats.org/officeDocument/2006/relationships/image" Target="../media/image4.png"/><Relationship Id="rId7" Type="http://schemas.openxmlformats.org/officeDocument/2006/relationships/hyperlink" Target="https://arxiv.org/pdf/1904.13310.pdf" TargetMode="External"/><Relationship Id="rId12" Type="http://schemas.openxmlformats.org/officeDocument/2006/relationships/hyperlink" Target="https://www.wallstreetmojo.com/normalization-formula/" TargetMode="External"/><Relationship Id="rId17" Type="http://schemas.openxmlformats.org/officeDocument/2006/relationships/hyperlink" Target="https://www.prestigenetwork.com/insights/the-difference-between-statistical-and-neural-machine-translation/" TargetMode="External"/><Relationship Id="rId2" Type="http://schemas.openxmlformats.org/officeDocument/2006/relationships/image" Target="../media/image3.png"/><Relationship Id="rId16" Type="http://schemas.openxmlformats.org/officeDocument/2006/relationships/hyperlink" Target="https://cloud.google.com/translate/automl/docs/evaluate#:~:text=BLEU (BiLingual Evaluation Understudy) is,of high quality reference translations"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1532046420300083" TargetMode="External"/><Relationship Id="rId11" Type="http://schemas.openxmlformats.org/officeDocument/2006/relationships/hyperlink" Target="https://www.cs.upc.edu/~cristinae/CV/docs/tutorialSMTprint.pdf" TargetMode="External"/><Relationship Id="rId5" Type="http://schemas.openxmlformats.org/officeDocument/2006/relationships/hyperlink" Target="https://towardsdatascience.com/text-normalization-for-natural-language-processing-nlp-70a314bfa646" TargetMode="External"/><Relationship Id="rId15" Type="http://schemas.openxmlformats.org/officeDocument/2006/relationships/hyperlink" Target="https://doi.org/10.1109/ICPC.2019.00034" TargetMode="External"/><Relationship Id="rId10" Type="http://schemas.openxmlformats.org/officeDocument/2006/relationships/hyperlink" Target="https://www.sciencedirect.com/science/article/pii/S2666651020300024" TargetMode="External"/><Relationship Id="rId4" Type="http://schemas.openxmlformats.org/officeDocument/2006/relationships/image" Target="../media/image5.png"/><Relationship Id="rId9" Type="http://schemas.openxmlformats.org/officeDocument/2006/relationships/hyperlink" Target="https://aclanthology.org/J93-2003.pdf" TargetMode="External"/><Relationship Id="rId14" Type="http://schemas.openxmlformats.org/officeDocument/2006/relationships/hyperlink" Target="https://stackoverflow.com/questions/43463792/what-is-the-difference-between-bigram-and-unigram-text-features-extraction"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Group 9"/>
          <p:cNvGrpSpPr/>
          <p:nvPr/>
        </p:nvGrpSpPr>
        <p:grpSpPr>
          <a:xfrm>
            <a:off x="-1" y="-2"/>
            <a:ext cx="12192001" cy="6884670"/>
            <a:chOff x="0" y="0"/>
            <a:chExt cx="12192000" cy="6884669"/>
          </a:xfrm>
        </p:grpSpPr>
        <p:pic>
          <p:nvPicPr>
            <p:cNvPr id="94" name="Picture 2" descr="Picture 2"/>
            <p:cNvPicPr>
              <a:picLocks noChangeAspect="1"/>
            </p:cNvPicPr>
            <p:nvPr/>
          </p:nvPicPr>
          <p:blipFill>
            <a:blip r:embed="rId3"/>
            <a:srcRect t="42066"/>
            <a:stretch>
              <a:fillRect/>
            </a:stretch>
          </p:blipFill>
          <p:spPr>
            <a:xfrm>
              <a:off x="0" y="2127378"/>
              <a:ext cx="12192000" cy="4730621"/>
            </a:xfrm>
            <a:prstGeom prst="rect">
              <a:avLst/>
            </a:prstGeom>
            <a:ln w="12700" cap="flat">
              <a:noFill/>
              <a:miter lim="400000"/>
            </a:ln>
            <a:effectLst/>
          </p:spPr>
        </p:pic>
        <p:pic>
          <p:nvPicPr>
            <p:cNvPr id="95" name="Picture 2" descr="Picture 2"/>
            <p:cNvPicPr>
              <a:picLocks noChangeAspect="1"/>
            </p:cNvPicPr>
            <p:nvPr/>
          </p:nvPicPr>
          <p:blipFill>
            <a:blip r:embed="rId4"/>
            <a:srcRect r="77606" b="84977"/>
            <a:stretch>
              <a:fillRect/>
            </a:stretch>
          </p:blipFill>
          <p:spPr>
            <a:xfrm>
              <a:off x="-1" y="-1"/>
              <a:ext cx="2047742" cy="1030289"/>
            </a:xfrm>
            <a:prstGeom prst="rect">
              <a:avLst/>
            </a:prstGeom>
            <a:ln w="12700" cap="flat">
              <a:noFill/>
              <a:miter lim="400000"/>
            </a:ln>
            <a:effectLst/>
          </p:spPr>
        </p:pic>
        <p:grpSp>
          <p:nvGrpSpPr>
            <p:cNvPr id="98" name="Rectangle 8"/>
            <p:cNvGrpSpPr/>
            <p:nvPr/>
          </p:nvGrpSpPr>
          <p:grpSpPr>
            <a:xfrm>
              <a:off x="0" y="6564628"/>
              <a:ext cx="12192000" cy="320041"/>
              <a:chOff x="0" y="0"/>
              <a:chExt cx="12192000" cy="320040"/>
            </a:xfrm>
          </p:grpSpPr>
          <p:sp>
            <p:nvSpPr>
              <p:cNvPr id="96" name="Rectangle"/>
              <p:cNvSpPr/>
              <p:nvPr/>
            </p:nvSpPr>
            <p:spPr>
              <a:xfrm>
                <a:off x="0" y="26670"/>
                <a:ext cx="12192000" cy="266701"/>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lgn="ctr">
                  <a:defRPr sz="1400" spc="300">
                    <a:solidFill>
                      <a:srgbClr val="3B3838"/>
                    </a:solidFill>
                    <a:latin typeface="Goudy Old Style"/>
                    <a:ea typeface="Goudy Old Style"/>
                    <a:cs typeface="Goudy Old Style"/>
                    <a:sym typeface="Goudy Old Style"/>
                  </a:defRPr>
                </a:pPr>
                <a:endParaRPr/>
              </a:p>
            </p:txBody>
          </p:sp>
          <p:sp>
            <p:nvSpPr>
              <p:cNvPr id="97" name="COLLEGE OF COMPUTING EDUCATION |BACHELOR OF SCIENCE IN COMPUTER SCIENCE"/>
              <p:cNvSpPr txBox="1"/>
              <p:nvPr/>
            </p:nvSpPr>
            <p:spPr>
              <a:xfrm>
                <a:off x="45719" y="-1"/>
                <a:ext cx="12100561"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spc="300">
                    <a:solidFill>
                      <a:srgbClr val="3B3838"/>
                    </a:solidFill>
                    <a:latin typeface="Goudy Old Style"/>
                    <a:ea typeface="Goudy Old Style"/>
                    <a:cs typeface="Goudy Old Style"/>
                    <a:sym typeface="Goudy Old Style"/>
                  </a:defRPr>
                </a:lvl1pPr>
              </a:lstStyle>
              <a:p>
                <a:r>
                  <a:t>         COLLEGE OF COMPUTING EDUCATION |BACHELOR OF SCIENCE IN COMPUTER SCIENCE</a:t>
                </a:r>
              </a:p>
            </p:txBody>
          </p:sp>
        </p:grpSp>
      </p:grpSp>
      <p:sp>
        <p:nvSpPr>
          <p:cNvPr id="100" name="Title 1"/>
          <p:cNvSpPr txBox="1">
            <a:spLocks noGrp="1"/>
          </p:cNvSpPr>
          <p:nvPr>
            <p:ph type="ctrTitle"/>
          </p:nvPr>
        </p:nvSpPr>
        <p:spPr>
          <a:xfrm>
            <a:off x="959462" y="1391796"/>
            <a:ext cx="10070254" cy="2940869"/>
          </a:xfrm>
          <a:prstGeom prst="rect">
            <a:avLst/>
          </a:prstGeom>
        </p:spPr>
        <p:txBody>
          <a:bodyPr anchor="t"/>
          <a:lstStyle/>
          <a:p>
            <a:pPr defTabSz="630936">
              <a:spcBef>
                <a:spcPts val="0"/>
              </a:spcBef>
              <a:defRPr sz="4140" b="0">
                <a:latin typeface="Calibri Light"/>
                <a:ea typeface="Calibri Light"/>
                <a:cs typeface="Calibri Light"/>
                <a:sym typeface="Calibri Light"/>
              </a:defRPr>
            </a:pPr>
            <a:r>
              <a:rPr dirty="0">
                <a:latin typeface="Times New Roman" panose="02020603050405020304" pitchFamily="18" charset="0"/>
                <a:cs typeface="Times New Roman" panose="02020603050405020304" pitchFamily="18" charset="0"/>
              </a:rPr>
              <a:t>A Deep Learning-Enhanced Statistical Machine Translation of Filipino Local Languages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101" name="Subtitle 2"/>
          <p:cNvSpPr txBox="1">
            <a:spLocks noGrp="1"/>
          </p:cNvSpPr>
          <p:nvPr>
            <p:ph type="subTitle" sz="quarter" idx="1"/>
          </p:nvPr>
        </p:nvSpPr>
        <p:spPr>
          <a:xfrm>
            <a:off x="3556188" y="3429000"/>
            <a:ext cx="4876801" cy="1884362"/>
          </a:xfrm>
          <a:prstGeom prst="rect">
            <a:avLst/>
          </a:prstGeom>
        </p:spPr>
        <p:txBody>
          <a:bodyPr/>
          <a:lstStyle/>
          <a:p>
            <a:pPr>
              <a:defRPr sz="2000" b="1">
                <a:latin typeface="Times New Roman"/>
                <a:ea typeface="Times New Roman"/>
                <a:cs typeface="Times New Roman"/>
                <a:sym typeface="Times New Roman"/>
              </a:defRPr>
            </a:pPr>
            <a:r>
              <a:rPr dirty="0"/>
              <a:t>Proponents:</a:t>
            </a:r>
          </a:p>
          <a:p>
            <a:pPr>
              <a:defRPr sz="2000" b="1">
                <a:latin typeface="Times New Roman"/>
                <a:ea typeface="Times New Roman"/>
                <a:cs typeface="Times New Roman"/>
                <a:sym typeface="Times New Roman"/>
              </a:defRPr>
            </a:pPr>
            <a:r>
              <a:rPr dirty="0"/>
              <a:t>Misa, Tom Andre</a:t>
            </a:r>
          </a:p>
          <a:p>
            <a:pPr>
              <a:defRPr sz="2000" b="1">
                <a:latin typeface="Times New Roman"/>
                <a:ea typeface="Times New Roman"/>
                <a:cs typeface="Times New Roman"/>
                <a:sym typeface="Times New Roman"/>
              </a:defRPr>
            </a:pPr>
            <a:r>
              <a:rPr dirty="0" err="1"/>
              <a:t>Rafailes</a:t>
            </a:r>
            <a:r>
              <a:rPr dirty="0"/>
              <a:t>, Christian Jake Eliezer.</a:t>
            </a:r>
          </a:p>
          <a:p>
            <a:pPr>
              <a:defRPr sz="2000" b="1">
                <a:latin typeface="Times New Roman"/>
                <a:ea typeface="Times New Roman"/>
                <a:cs typeface="Times New Roman"/>
                <a:sym typeface="Times New Roman"/>
              </a:defRPr>
            </a:pPr>
            <a:r>
              <a:rPr dirty="0"/>
              <a:t>Javier, Kynth.</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8"/>
          <p:cNvGrpSpPr/>
          <p:nvPr/>
        </p:nvGrpSpPr>
        <p:grpSpPr>
          <a:xfrm>
            <a:off x="-1" y="0"/>
            <a:ext cx="12192002" cy="6858000"/>
            <a:chOff x="0" y="0"/>
            <a:chExt cx="12192000" cy="6858000"/>
          </a:xfrm>
        </p:grpSpPr>
        <p:pic>
          <p:nvPicPr>
            <p:cNvPr id="105" name="Picture 3" descr="Picture 3"/>
            <p:cNvPicPr>
              <a:picLocks noChangeAspect="1"/>
            </p:cNvPicPr>
            <p:nvPr/>
          </p:nvPicPr>
          <p:blipFill>
            <a:blip r:embed="rId2"/>
            <a:stretch>
              <a:fillRect/>
            </a:stretch>
          </p:blipFill>
          <p:spPr>
            <a:xfrm>
              <a:off x="0" y="0"/>
              <a:ext cx="12192000" cy="6858000"/>
            </a:xfrm>
            <a:prstGeom prst="rect">
              <a:avLst/>
            </a:prstGeom>
            <a:ln w="12700" cap="flat">
              <a:noFill/>
              <a:miter lim="400000"/>
            </a:ln>
            <a:effectLst/>
          </p:spPr>
        </p:pic>
        <p:grpSp>
          <p:nvGrpSpPr>
            <p:cNvPr id="110" name="Group 4"/>
            <p:cNvGrpSpPr/>
            <p:nvPr/>
          </p:nvGrpSpPr>
          <p:grpSpPr>
            <a:xfrm>
              <a:off x="-1" y="5976544"/>
              <a:ext cx="8498543" cy="834190"/>
              <a:chOff x="0" y="0"/>
              <a:chExt cx="8498542" cy="834189"/>
            </a:xfrm>
          </p:grpSpPr>
          <p:grpSp>
            <p:nvGrpSpPr>
              <p:cNvPr id="108" name="Rectangle 5"/>
              <p:cNvGrpSpPr/>
              <p:nvPr/>
            </p:nvGrpSpPr>
            <p:grpSpPr>
              <a:xfrm>
                <a:off x="-1" y="244319"/>
                <a:ext cx="8498544" cy="411528"/>
                <a:chOff x="0" y="0"/>
                <a:chExt cx="8498542" cy="411526"/>
              </a:xfrm>
            </p:grpSpPr>
            <p:sp>
              <p:nvSpPr>
                <p:cNvPr id="106" name="Rectangle"/>
                <p:cNvSpPr/>
                <p:nvPr/>
              </p:nvSpPr>
              <p:spPr>
                <a:xfrm>
                  <a:off x="-1" y="0"/>
                  <a:ext cx="8498544" cy="411527"/>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07" name="COLLEGE OF COMPUTING EDUCATION"/>
                <p:cNvSpPr txBox="1"/>
                <p:nvPr/>
              </p:nvSpPr>
              <p:spPr>
                <a:xfrm>
                  <a:off x="45719" y="45743"/>
                  <a:ext cx="8407104"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09" name="Picture 6" descr="Picture 6"/>
              <p:cNvPicPr>
                <a:picLocks noChangeAspect="1"/>
              </p:cNvPicPr>
              <p:nvPr/>
            </p:nvPicPr>
            <p:blipFill>
              <a:blip r:embed="rId3"/>
              <a:stretch>
                <a:fillRect/>
              </a:stretch>
            </p:blipFill>
            <p:spPr>
              <a:xfrm>
                <a:off x="256305" y="0"/>
                <a:ext cx="847326" cy="834190"/>
              </a:xfrm>
              <a:prstGeom prst="rect">
                <a:avLst/>
              </a:prstGeom>
              <a:ln w="12700" cap="flat">
                <a:noFill/>
                <a:miter lim="400000"/>
              </a:ln>
              <a:effectLst/>
            </p:spPr>
          </p:pic>
        </p:grpSp>
        <p:pic>
          <p:nvPicPr>
            <p:cNvPr id="111" name="Picture 2" descr="Picture 2"/>
            <p:cNvPicPr>
              <a:picLocks noChangeAspect="1"/>
            </p:cNvPicPr>
            <p:nvPr/>
          </p:nvPicPr>
          <p:blipFill>
            <a:blip r:embed="rId4"/>
            <a:srcRect r="77606" b="84977"/>
            <a:stretch>
              <a:fillRect/>
            </a:stretch>
          </p:blipFill>
          <p:spPr>
            <a:xfrm>
              <a:off x="-1" y="3336"/>
              <a:ext cx="1657987" cy="834190"/>
            </a:xfrm>
            <a:prstGeom prst="rect">
              <a:avLst/>
            </a:prstGeom>
            <a:ln w="12700" cap="flat">
              <a:noFill/>
              <a:miter lim="400000"/>
            </a:ln>
            <a:effectLst/>
          </p:spPr>
        </p:pic>
      </p:grpSp>
      <p:sp>
        <p:nvSpPr>
          <p:cNvPr id="113" name="Title 2"/>
          <p:cNvSpPr txBox="1">
            <a:spLocks noGrp="1"/>
          </p:cNvSpPr>
          <p:nvPr>
            <p:ph type="title"/>
          </p:nvPr>
        </p:nvSpPr>
        <p:spPr>
          <a:xfrm>
            <a:off x="828993" y="-74866"/>
            <a:ext cx="10515601" cy="1325563"/>
          </a:xfrm>
          <a:prstGeom prst="rect">
            <a:avLst/>
          </a:prstGeom>
        </p:spPr>
        <p:txBody>
          <a:bodyPr/>
          <a:lstStyle>
            <a:lvl1pPr algn="ctr">
              <a:lnSpc>
                <a:spcPct val="100000"/>
              </a:lnSpc>
              <a:defRPr sz="3600">
                <a:solidFill>
                  <a:srgbClr val="3B3838"/>
                </a:solidFill>
                <a:latin typeface="Times New Roman"/>
                <a:ea typeface="Times New Roman"/>
                <a:cs typeface="Times New Roman"/>
                <a:sym typeface="Times New Roman"/>
              </a:defRPr>
            </a:lvl1pPr>
          </a:lstStyle>
          <a:p>
            <a:r>
              <a:t>Background of the Study</a:t>
            </a:r>
          </a:p>
        </p:txBody>
      </p:sp>
      <p:sp>
        <p:nvSpPr>
          <p:cNvPr id="114" name="TextBox 2"/>
          <p:cNvSpPr txBox="1"/>
          <p:nvPr/>
        </p:nvSpPr>
        <p:spPr>
          <a:xfrm>
            <a:off x="1007427" y="1081845"/>
            <a:ext cx="10158732" cy="4830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sz="1900">
                <a:latin typeface="Times New Roman"/>
                <a:ea typeface="Times New Roman"/>
                <a:cs typeface="Times New Roman"/>
                <a:sym typeface="Times New Roman"/>
              </a:defRPr>
            </a:pPr>
            <a:r>
              <a:t>The Philippines is an island country in Southeast Asia, and its culture and history is diverse. There are many spoken languages and dialects due to the diversity of its people, such as Hiligaynon and Tagalog.</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r>
              <a:t> Hiligaynon is the language spoken in the Western Visayas region, and it is also known as Ilonggo to the locals. </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r>
              <a:t>Hiligaynon and Filipino are the two languages that are rich in cultural and linguistic subtleties, which presents a unique and complex pair for machine translation. The two languages are distinct yet similar due to shared cultural and historical influences since they came from the same language family, the Austronesian Family of Language</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r>
              <a:t>The problem with achieving a correct translation is that machines need help picking up on the nuances of speech. Something spoken in Hiligaynon translated into Tagalog or Filipino will sometimes come across as broken in either grammar, structure, or both</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Group 8"/>
          <p:cNvGrpSpPr/>
          <p:nvPr/>
        </p:nvGrpSpPr>
        <p:grpSpPr>
          <a:xfrm>
            <a:off x="-1" y="0"/>
            <a:ext cx="12192002" cy="6858000"/>
            <a:chOff x="0" y="0"/>
            <a:chExt cx="12192000" cy="6858000"/>
          </a:xfrm>
        </p:grpSpPr>
        <p:pic>
          <p:nvPicPr>
            <p:cNvPr id="116" name="Picture 3" descr="Picture 3"/>
            <p:cNvPicPr>
              <a:picLocks noChangeAspect="1"/>
            </p:cNvPicPr>
            <p:nvPr/>
          </p:nvPicPr>
          <p:blipFill>
            <a:blip r:embed="rId2"/>
            <a:stretch>
              <a:fillRect/>
            </a:stretch>
          </p:blipFill>
          <p:spPr>
            <a:xfrm>
              <a:off x="0" y="0"/>
              <a:ext cx="12192000" cy="6858000"/>
            </a:xfrm>
            <a:prstGeom prst="rect">
              <a:avLst/>
            </a:prstGeom>
            <a:ln w="12700" cap="flat">
              <a:noFill/>
              <a:miter lim="400000"/>
            </a:ln>
            <a:effectLst/>
          </p:spPr>
        </p:pic>
        <p:grpSp>
          <p:nvGrpSpPr>
            <p:cNvPr id="121" name="Group 4"/>
            <p:cNvGrpSpPr/>
            <p:nvPr/>
          </p:nvGrpSpPr>
          <p:grpSpPr>
            <a:xfrm>
              <a:off x="-1" y="5976544"/>
              <a:ext cx="8498543" cy="834190"/>
              <a:chOff x="0" y="0"/>
              <a:chExt cx="8498542" cy="834189"/>
            </a:xfrm>
          </p:grpSpPr>
          <p:grpSp>
            <p:nvGrpSpPr>
              <p:cNvPr id="119" name="Rectangle 5"/>
              <p:cNvGrpSpPr/>
              <p:nvPr/>
            </p:nvGrpSpPr>
            <p:grpSpPr>
              <a:xfrm>
                <a:off x="-1" y="244319"/>
                <a:ext cx="8498544" cy="411528"/>
                <a:chOff x="0" y="0"/>
                <a:chExt cx="8498542" cy="411526"/>
              </a:xfrm>
            </p:grpSpPr>
            <p:sp>
              <p:nvSpPr>
                <p:cNvPr id="117" name="Rectangle"/>
                <p:cNvSpPr/>
                <p:nvPr/>
              </p:nvSpPr>
              <p:spPr>
                <a:xfrm>
                  <a:off x="-1" y="0"/>
                  <a:ext cx="8498544" cy="411527"/>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18" name="COLLEGE OF COMPUTING EDUCATION"/>
                <p:cNvSpPr txBox="1"/>
                <p:nvPr/>
              </p:nvSpPr>
              <p:spPr>
                <a:xfrm>
                  <a:off x="45719" y="45743"/>
                  <a:ext cx="8407104"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20" name="Picture 6" descr="Picture 6"/>
              <p:cNvPicPr>
                <a:picLocks noChangeAspect="1"/>
              </p:cNvPicPr>
              <p:nvPr/>
            </p:nvPicPr>
            <p:blipFill>
              <a:blip r:embed="rId3"/>
              <a:stretch>
                <a:fillRect/>
              </a:stretch>
            </p:blipFill>
            <p:spPr>
              <a:xfrm>
                <a:off x="256305" y="0"/>
                <a:ext cx="847326" cy="834190"/>
              </a:xfrm>
              <a:prstGeom prst="rect">
                <a:avLst/>
              </a:prstGeom>
              <a:ln w="12700" cap="flat">
                <a:noFill/>
                <a:miter lim="400000"/>
              </a:ln>
              <a:effectLst/>
            </p:spPr>
          </p:pic>
        </p:grpSp>
        <p:pic>
          <p:nvPicPr>
            <p:cNvPr id="122" name="Picture 2" descr="Picture 2"/>
            <p:cNvPicPr>
              <a:picLocks noChangeAspect="1"/>
            </p:cNvPicPr>
            <p:nvPr/>
          </p:nvPicPr>
          <p:blipFill>
            <a:blip r:embed="rId4"/>
            <a:srcRect r="77606" b="84977"/>
            <a:stretch>
              <a:fillRect/>
            </a:stretch>
          </p:blipFill>
          <p:spPr>
            <a:xfrm>
              <a:off x="-1" y="3336"/>
              <a:ext cx="1657987" cy="834190"/>
            </a:xfrm>
            <a:prstGeom prst="rect">
              <a:avLst/>
            </a:prstGeom>
            <a:ln w="12700" cap="flat">
              <a:noFill/>
              <a:miter lim="400000"/>
            </a:ln>
            <a:effectLst/>
          </p:spPr>
        </p:pic>
      </p:grpSp>
      <p:sp>
        <p:nvSpPr>
          <p:cNvPr id="124" name="Title 2"/>
          <p:cNvSpPr txBox="1">
            <a:spLocks noGrp="1"/>
          </p:cNvSpPr>
          <p:nvPr>
            <p:ph type="title"/>
          </p:nvPr>
        </p:nvSpPr>
        <p:spPr>
          <a:xfrm>
            <a:off x="838200" y="174744"/>
            <a:ext cx="10515600" cy="1325563"/>
          </a:xfrm>
          <a:prstGeom prst="rect">
            <a:avLst/>
          </a:prstGeom>
        </p:spPr>
        <p:txBody>
          <a:bodyPr/>
          <a:lstStyle>
            <a:lvl1pPr algn="ctr">
              <a:lnSpc>
                <a:spcPct val="100000"/>
              </a:lnSpc>
              <a:defRPr sz="3600">
                <a:solidFill>
                  <a:srgbClr val="3B3838"/>
                </a:solidFill>
                <a:latin typeface="Times New Roman"/>
                <a:ea typeface="Times New Roman"/>
                <a:cs typeface="Times New Roman"/>
                <a:sym typeface="Times New Roman"/>
              </a:defRPr>
            </a:lvl1pPr>
          </a:lstStyle>
          <a:p>
            <a:r>
              <a:t>Background of the Study</a:t>
            </a:r>
          </a:p>
        </p:txBody>
      </p:sp>
      <p:sp>
        <p:nvSpPr>
          <p:cNvPr id="125" name="TextBox 1"/>
          <p:cNvSpPr txBox="1"/>
          <p:nvPr/>
        </p:nvSpPr>
        <p:spPr>
          <a:xfrm>
            <a:off x="1016634" y="1363702"/>
            <a:ext cx="10158732" cy="4830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sz="1900">
                <a:latin typeface="Times New Roman"/>
                <a:ea typeface="Times New Roman"/>
                <a:cs typeface="Times New Roman"/>
                <a:sym typeface="Times New Roman"/>
              </a:defRPr>
            </a:pPr>
            <a:r>
              <a:t>One popular model well-known for its capacity to incorporate context from previous and subsequent items in a data sequence is the Bidirectional Long Short-Term Memory (Bi-LSTM) model. This distinct quality has excellent potential for overcoming the difficulties in translating between Filipino and Hiligaynon.</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r>
              <a:t>The Bi-LSTM's bidirectionality enables the model to fully comprehend the linguistic environment by deftly grasping the nuances of the language's syntax and semantics. Integrating Bi-LSTM into a statistical machine translation system represents a significant advancement. </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r>
              <a:t>The translation model can consider both the present input and the language elements that will be added in the future with this addition. This forward and backward information flow makes a more sophisticated understanding of the original language possible, improving the system's capacity to provide linguistically and culturally accurate translations.</a:t>
            </a: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endParaRPr/>
          </a:p>
          <a:p>
            <a:pPr algn="just">
              <a:defRPr sz="1900">
                <a:latin typeface="Times New Roman"/>
                <a:ea typeface="Times New Roman"/>
                <a:cs typeface="Times New Roman"/>
                <a:sym typeface="Times New Roman"/>
              </a:defRPr>
            </a:pPr>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Picture 3" descr="Picture 3"/>
          <p:cNvPicPr>
            <a:picLocks noChangeAspect="1"/>
          </p:cNvPicPr>
          <p:nvPr/>
        </p:nvPicPr>
        <p:blipFill>
          <a:blip r:embed="rId2"/>
          <a:stretch>
            <a:fillRect/>
          </a:stretch>
        </p:blipFill>
        <p:spPr>
          <a:xfrm>
            <a:off x="-9207" y="585207"/>
            <a:ext cx="12192001" cy="6858001"/>
          </a:xfrm>
          <a:prstGeom prst="rect">
            <a:avLst/>
          </a:prstGeom>
          <a:ln w="12700">
            <a:miter lim="400000"/>
          </a:ln>
        </p:spPr>
      </p:pic>
      <p:grpSp>
        <p:nvGrpSpPr>
          <p:cNvPr id="132" name="Group 7"/>
          <p:cNvGrpSpPr/>
          <p:nvPr/>
        </p:nvGrpSpPr>
        <p:grpSpPr>
          <a:xfrm>
            <a:off x="-9207" y="6272791"/>
            <a:ext cx="8498542" cy="834190"/>
            <a:chOff x="0" y="0"/>
            <a:chExt cx="8498541" cy="834189"/>
          </a:xfrm>
        </p:grpSpPr>
        <p:grpSp>
          <p:nvGrpSpPr>
            <p:cNvPr id="130" name="Rectangle 6"/>
            <p:cNvGrpSpPr/>
            <p:nvPr/>
          </p:nvGrpSpPr>
          <p:grpSpPr>
            <a:xfrm>
              <a:off x="0" y="244319"/>
              <a:ext cx="8498542" cy="411528"/>
              <a:chOff x="0" y="0"/>
              <a:chExt cx="8498541" cy="411526"/>
            </a:xfrm>
          </p:grpSpPr>
          <p:sp>
            <p:nvSpPr>
              <p:cNvPr id="128" name="Rectangle"/>
              <p:cNvSpPr/>
              <p:nvPr/>
            </p:nvSpPr>
            <p:spPr>
              <a:xfrm>
                <a:off x="0" y="0"/>
                <a:ext cx="8498542" cy="411527"/>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29"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31" name="Picture 5" descr="Picture 5"/>
            <p:cNvPicPr>
              <a:picLocks noChangeAspect="1"/>
            </p:cNvPicPr>
            <p:nvPr/>
          </p:nvPicPr>
          <p:blipFill>
            <a:blip r:embed="rId3"/>
            <a:stretch>
              <a:fillRect/>
            </a:stretch>
          </p:blipFill>
          <p:spPr>
            <a:xfrm>
              <a:off x="256304" y="0"/>
              <a:ext cx="847327" cy="834190"/>
            </a:xfrm>
            <a:prstGeom prst="rect">
              <a:avLst/>
            </a:prstGeom>
            <a:ln w="12700" cap="flat">
              <a:noFill/>
              <a:miter lim="400000"/>
            </a:ln>
            <a:effectLst/>
          </p:spPr>
        </p:pic>
      </p:grpSp>
      <p:pic>
        <p:nvPicPr>
          <p:cNvPr id="133"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134" name="Title 2"/>
          <p:cNvSpPr txBox="1">
            <a:spLocks noGrp="1"/>
          </p:cNvSpPr>
          <p:nvPr>
            <p:ph type="title"/>
          </p:nvPr>
        </p:nvSpPr>
        <p:spPr>
          <a:xfrm>
            <a:off x="828993" y="-3024"/>
            <a:ext cx="10515601" cy="1325563"/>
          </a:xfrm>
          <a:prstGeom prst="rect">
            <a:avLst/>
          </a:prstGeom>
        </p:spPr>
        <p:txBody>
          <a:bodyPr/>
          <a:lstStyle>
            <a:lvl1pPr algn="ctr">
              <a:lnSpc>
                <a:spcPct val="100000"/>
              </a:lnSpc>
              <a:defRPr sz="3600">
                <a:solidFill>
                  <a:srgbClr val="3B3838"/>
                </a:solidFill>
                <a:latin typeface="Times New Roman"/>
                <a:ea typeface="Times New Roman"/>
                <a:cs typeface="Times New Roman"/>
                <a:sym typeface="Times New Roman"/>
              </a:defRPr>
            </a:lvl1pPr>
          </a:lstStyle>
          <a:p>
            <a:r>
              <a:t>The Objectives</a:t>
            </a:r>
          </a:p>
        </p:txBody>
      </p:sp>
      <p:sp>
        <p:nvSpPr>
          <p:cNvPr id="135" name="TextBox 1"/>
          <p:cNvSpPr txBox="1"/>
          <p:nvPr/>
        </p:nvSpPr>
        <p:spPr>
          <a:xfrm>
            <a:off x="723564" y="823873"/>
            <a:ext cx="10940451" cy="48950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r>
              <a:t>General Objectives</a:t>
            </a:r>
          </a:p>
          <a:p>
            <a:pPr algn="just">
              <a:defRPr>
                <a:latin typeface="Times New Roman"/>
                <a:ea typeface="Times New Roman"/>
                <a:cs typeface="Times New Roman"/>
                <a:sym typeface="Times New Roman"/>
              </a:defRPr>
            </a:pPr>
            <a:endParaRPr/>
          </a:p>
          <a:p>
            <a:pPr marL="342900" indent="-342900" algn="just">
              <a:buSzPct val="100000"/>
              <a:buFont typeface="Arial"/>
              <a:buChar char="•"/>
              <a:defRPr>
                <a:latin typeface="Times New Roman"/>
                <a:ea typeface="Times New Roman"/>
                <a:cs typeface="Times New Roman"/>
                <a:sym typeface="Times New Roman"/>
              </a:defRPr>
            </a:pPr>
            <a:r>
              <a:t>To improve the accuracy and precision of translating words and sentences in the Filipino language, layers and grid search optimization will be added to the current Bidirectional LSTMs to improve statistical machine translation and achieve better accuracy and precision in translating words and sentences.</a:t>
            </a:r>
          </a:p>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r>
              <a:t>Specific Objectives</a:t>
            </a:r>
          </a:p>
          <a:p>
            <a:pPr marL="1714500" lvl="3" indent="-342900" algn="just">
              <a:spcBef>
                <a:spcPts val="600"/>
              </a:spcBef>
              <a:buClr>
                <a:srgbClr val="000000"/>
              </a:buClr>
              <a:buSzPts val="1800"/>
              <a:buFont typeface="Arial"/>
              <a:buChar char="•"/>
              <a:defRPr>
                <a:latin typeface="Times New Roman"/>
                <a:ea typeface="Times New Roman"/>
                <a:cs typeface="Times New Roman"/>
                <a:sym typeface="Times New Roman"/>
              </a:defRPr>
            </a:pPr>
            <a:r>
              <a:t>To create a model for statistical machine translation that uses a bidirectional LSTM to change to Hiligaynon &amp; Filipino only.</a:t>
            </a:r>
          </a:p>
          <a:p>
            <a:pPr marL="1714500" lvl="3" indent="-342900" algn="just">
              <a:spcBef>
                <a:spcPts val="400"/>
              </a:spcBef>
              <a:buClr>
                <a:srgbClr val="000000"/>
              </a:buClr>
              <a:buSzPts val="1800"/>
              <a:buFont typeface="Arial"/>
              <a:buChar char="•"/>
              <a:defRPr>
                <a:latin typeface="Times New Roman"/>
                <a:ea typeface="Times New Roman"/>
                <a:cs typeface="Times New Roman"/>
                <a:sym typeface="Times New Roman"/>
              </a:defRPr>
            </a:pPr>
            <a:r>
              <a:t>To tokenize and normalize text to carry out data pre-processing and clean the necessary resources that call for an effective word translation between the Hiligaynon and Filipino languages from dictionaries and open-source data sets.</a:t>
            </a:r>
          </a:p>
          <a:p>
            <a:pPr marL="1714500" lvl="3" indent="-342900" algn="just">
              <a:spcBef>
                <a:spcPts val="400"/>
              </a:spcBef>
              <a:buClr>
                <a:srgbClr val="000000"/>
              </a:buClr>
              <a:buSzPts val="1800"/>
              <a:buFont typeface="Arial"/>
              <a:buChar char="•"/>
              <a:defRPr>
                <a:latin typeface="Times New Roman"/>
                <a:ea typeface="Times New Roman"/>
                <a:cs typeface="Times New Roman"/>
                <a:sym typeface="Times New Roman"/>
              </a:defRPr>
            </a:pPr>
            <a:r>
              <a:t>Using the provided data sets, run a simulation using the baseline and suggested Bidirectional LSM Statistical Machine Translation model.</a:t>
            </a:r>
          </a:p>
          <a:p>
            <a:pPr marL="1714500" lvl="3" indent="-342900" algn="just">
              <a:spcBef>
                <a:spcPts val="400"/>
              </a:spcBef>
              <a:buClr>
                <a:srgbClr val="000000"/>
              </a:buClr>
              <a:buSzPts val="1800"/>
              <a:buFont typeface="Arial"/>
              <a:buChar char="•"/>
              <a:defRPr>
                <a:latin typeface="Times New Roman"/>
                <a:ea typeface="Times New Roman"/>
                <a:cs typeface="Times New Roman"/>
                <a:sym typeface="Times New Roman"/>
              </a:defRPr>
            </a:pPr>
            <a:r>
              <a:t>To evaluate the experimental findings between the baseline and suggested models to determine which model performs better in accuracy when translating text in Filipino and Hiligaynon.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Group 8"/>
          <p:cNvGrpSpPr/>
          <p:nvPr/>
        </p:nvGrpSpPr>
        <p:grpSpPr>
          <a:xfrm>
            <a:off x="-1" y="0"/>
            <a:ext cx="12192002" cy="6858000"/>
            <a:chOff x="0" y="0"/>
            <a:chExt cx="12192000" cy="6858000"/>
          </a:xfrm>
        </p:grpSpPr>
        <p:pic>
          <p:nvPicPr>
            <p:cNvPr id="137" name="Picture 3" descr="Picture 3"/>
            <p:cNvPicPr>
              <a:picLocks noChangeAspect="1"/>
            </p:cNvPicPr>
            <p:nvPr/>
          </p:nvPicPr>
          <p:blipFill>
            <a:blip r:embed="rId2"/>
            <a:stretch>
              <a:fillRect/>
            </a:stretch>
          </p:blipFill>
          <p:spPr>
            <a:xfrm>
              <a:off x="0" y="0"/>
              <a:ext cx="12192000" cy="6858000"/>
            </a:xfrm>
            <a:prstGeom prst="rect">
              <a:avLst/>
            </a:prstGeom>
            <a:ln w="12700" cap="flat">
              <a:noFill/>
              <a:miter lim="400000"/>
            </a:ln>
            <a:effectLst/>
          </p:spPr>
        </p:pic>
        <p:grpSp>
          <p:nvGrpSpPr>
            <p:cNvPr id="142" name="Group 4"/>
            <p:cNvGrpSpPr/>
            <p:nvPr/>
          </p:nvGrpSpPr>
          <p:grpSpPr>
            <a:xfrm>
              <a:off x="-1" y="5976544"/>
              <a:ext cx="8498543" cy="834190"/>
              <a:chOff x="0" y="0"/>
              <a:chExt cx="8498542" cy="834189"/>
            </a:xfrm>
          </p:grpSpPr>
          <p:grpSp>
            <p:nvGrpSpPr>
              <p:cNvPr id="140" name="Rectangle 5"/>
              <p:cNvGrpSpPr/>
              <p:nvPr/>
            </p:nvGrpSpPr>
            <p:grpSpPr>
              <a:xfrm>
                <a:off x="-1" y="244319"/>
                <a:ext cx="8498544" cy="411528"/>
                <a:chOff x="0" y="0"/>
                <a:chExt cx="8498542" cy="411526"/>
              </a:xfrm>
            </p:grpSpPr>
            <p:sp>
              <p:nvSpPr>
                <p:cNvPr id="138" name="Rectangle"/>
                <p:cNvSpPr/>
                <p:nvPr/>
              </p:nvSpPr>
              <p:spPr>
                <a:xfrm>
                  <a:off x="-1" y="0"/>
                  <a:ext cx="8498544" cy="411527"/>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39" name="COLLEGE OF COMPUTING EDUCATION"/>
                <p:cNvSpPr txBox="1"/>
                <p:nvPr/>
              </p:nvSpPr>
              <p:spPr>
                <a:xfrm>
                  <a:off x="45719" y="45743"/>
                  <a:ext cx="8407104"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41" name="Picture 6" descr="Picture 6"/>
              <p:cNvPicPr>
                <a:picLocks noChangeAspect="1"/>
              </p:cNvPicPr>
              <p:nvPr/>
            </p:nvPicPr>
            <p:blipFill>
              <a:blip r:embed="rId3"/>
              <a:stretch>
                <a:fillRect/>
              </a:stretch>
            </p:blipFill>
            <p:spPr>
              <a:xfrm>
                <a:off x="256305" y="0"/>
                <a:ext cx="847326" cy="834190"/>
              </a:xfrm>
              <a:prstGeom prst="rect">
                <a:avLst/>
              </a:prstGeom>
              <a:ln w="12700" cap="flat">
                <a:noFill/>
                <a:miter lim="400000"/>
              </a:ln>
              <a:effectLst/>
            </p:spPr>
          </p:pic>
        </p:grpSp>
        <p:pic>
          <p:nvPicPr>
            <p:cNvPr id="143" name="Picture 2" descr="Picture 2"/>
            <p:cNvPicPr>
              <a:picLocks noChangeAspect="1"/>
            </p:cNvPicPr>
            <p:nvPr/>
          </p:nvPicPr>
          <p:blipFill>
            <a:blip r:embed="rId4"/>
            <a:srcRect r="77606" b="84977"/>
            <a:stretch>
              <a:fillRect/>
            </a:stretch>
          </p:blipFill>
          <p:spPr>
            <a:xfrm>
              <a:off x="-1" y="3336"/>
              <a:ext cx="1657987" cy="834190"/>
            </a:xfrm>
            <a:prstGeom prst="rect">
              <a:avLst/>
            </a:prstGeom>
            <a:ln w="12700" cap="flat">
              <a:noFill/>
              <a:miter lim="400000"/>
            </a:ln>
            <a:effectLst/>
          </p:spPr>
        </p:pic>
      </p:grpSp>
      <p:sp>
        <p:nvSpPr>
          <p:cNvPr id="145" name="Title 2"/>
          <p:cNvSpPr txBox="1">
            <a:spLocks noGrp="1"/>
          </p:cNvSpPr>
          <p:nvPr>
            <p:ph type="title"/>
          </p:nvPr>
        </p:nvSpPr>
        <p:spPr>
          <a:xfrm>
            <a:off x="838200" y="174744"/>
            <a:ext cx="10515600" cy="1325563"/>
          </a:xfrm>
          <a:prstGeom prst="rect">
            <a:avLst/>
          </a:prstGeom>
        </p:spPr>
        <p:txBody>
          <a:bodyPr/>
          <a:lstStyle>
            <a:lvl1pPr algn="ctr">
              <a:lnSpc>
                <a:spcPct val="100000"/>
              </a:lnSpc>
              <a:defRPr sz="3600">
                <a:solidFill>
                  <a:srgbClr val="3B3838"/>
                </a:solidFill>
                <a:latin typeface="Times New Roman"/>
                <a:ea typeface="Times New Roman"/>
                <a:cs typeface="Times New Roman"/>
                <a:sym typeface="Times New Roman"/>
              </a:defRPr>
            </a:lvl1pPr>
          </a:lstStyle>
          <a:p>
            <a:r>
              <a:t>Review of Related Literature</a:t>
            </a:r>
          </a:p>
        </p:txBody>
      </p:sp>
      <p:sp>
        <p:nvSpPr>
          <p:cNvPr id="146" name="TextBox 2"/>
          <p:cNvSpPr txBox="1"/>
          <p:nvPr/>
        </p:nvSpPr>
        <p:spPr>
          <a:xfrm>
            <a:off x="1169034" y="1897026"/>
            <a:ext cx="10158732" cy="3850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400">
                <a:latin typeface="Times New Roman"/>
                <a:ea typeface="Times New Roman"/>
                <a:cs typeface="Times New Roman"/>
                <a:sym typeface="Times New Roman"/>
              </a:defRPr>
            </a:pPr>
            <a:r>
              <a:t>A case study on the use of LSTM to translate French to Senegalese. The researchers found the case study to be close to what the researchers are trying to achieve with their own study, that being the use of LSTM to translate Spanish to Filipino. </a:t>
            </a:r>
          </a:p>
          <a:p>
            <a:pPr>
              <a:defRPr sz="2400">
                <a:latin typeface="Times New Roman"/>
                <a:ea typeface="Times New Roman"/>
                <a:cs typeface="Times New Roman"/>
                <a:sym typeface="Times New Roman"/>
              </a:defRPr>
            </a:pPr>
            <a:endParaRPr/>
          </a:p>
          <a:p>
            <a:pPr>
              <a:defRPr sz="2400">
                <a:latin typeface="Times New Roman"/>
                <a:ea typeface="Times New Roman"/>
                <a:cs typeface="Times New Roman"/>
                <a:sym typeface="Times New Roman"/>
              </a:defRPr>
            </a:pPr>
            <a:r>
              <a:t>Accuracy Findings:</a:t>
            </a:r>
          </a:p>
          <a:p>
            <a:pPr marL="285750" indent="-285750">
              <a:buSzPct val="100000"/>
              <a:buFont typeface="Arial"/>
              <a:buChar char="•"/>
              <a:defRPr sz="2400">
                <a:latin typeface="Times New Roman"/>
                <a:ea typeface="Times New Roman"/>
                <a:cs typeface="Times New Roman"/>
                <a:sym typeface="Times New Roman"/>
              </a:defRPr>
            </a:pPr>
            <a:r>
              <a:t>Baseline LSTM - 56.69%</a:t>
            </a:r>
          </a:p>
          <a:p>
            <a:pPr marL="285750" indent="-285750">
              <a:buSzPct val="100000"/>
              <a:buFont typeface="Arial"/>
              <a:buChar char="•"/>
              <a:defRPr sz="2400">
                <a:latin typeface="Times New Roman"/>
                <a:ea typeface="Times New Roman"/>
                <a:cs typeface="Times New Roman"/>
                <a:sym typeface="Times New Roman"/>
              </a:defRPr>
            </a:pPr>
            <a:r>
              <a:t>LSTM + Attention – 63.89%</a:t>
            </a:r>
          </a:p>
          <a:p>
            <a:pPr marL="285750" indent="-285750">
              <a:buSzPct val="100000"/>
              <a:buFont typeface="Arial"/>
              <a:buChar char="•"/>
              <a:defRPr sz="2400">
                <a:latin typeface="Times New Roman"/>
                <a:ea typeface="Times New Roman"/>
                <a:cs typeface="Times New Roman"/>
                <a:sym typeface="Times New Roman"/>
              </a:defRPr>
            </a:pPr>
            <a:r>
              <a:t>LSTM + Bidirectional – 68.03%</a:t>
            </a:r>
          </a:p>
          <a:p>
            <a:pPr marL="285750" indent="-285750">
              <a:buSzPct val="100000"/>
              <a:buFont typeface="Arial"/>
              <a:buChar char="•"/>
              <a:defRPr sz="2400">
                <a:latin typeface="Times New Roman"/>
                <a:ea typeface="Times New Roman"/>
                <a:cs typeface="Times New Roman"/>
                <a:sym typeface="Times New Roman"/>
              </a:defRPr>
            </a:pPr>
            <a:r>
              <a:t>LSTM + Attention + Bidirectional – 72.27%</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161" name="Rectangle 6"/>
          <p:cNvGrpSpPr/>
          <p:nvPr/>
        </p:nvGrpSpPr>
        <p:grpSpPr>
          <a:xfrm>
            <a:off x="0" y="6217525"/>
            <a:ext cx="8498542" cy="411528"/>
            <a:chOff x="0" y="0"/>
            <a:chExt cx="8498541" cy="411527"/>
          </a:xfrm>
        </p:grpSpPr>
        <p:sp>
          <p:nvSpPr>
            <p:cNvPr id="159"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60"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62"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163"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164"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t>Baseline Model</a:t>
            </a:r>
          </a:p>
        </p:txBody>
      </p:sp>
      <p:sp>
        <p:nvSpPr>
          <p:cNvPr id="165" name="TextBox 35"/>
          <p:cNvSpPr txBox="1"/>
          <p:nvPr/>
        </p:nvSpPr>
        <p:spPr>
          <a:xfrm>
            <a:off x="6838003" y="5650041"/>
            <a:ext cx="2917262" cy="6151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spcBef>
                <a:spcPts val="400"/>
              </a:spcBef>
              <a:defRPr>
                <a:latin typeface="Times New Roman"/>
                <a:ea typeface="Times New Roman"/>
                <a:cs typeface="Times New Roman"/>
                <a:sym typeface="Times New Roman"/>
              </a:defRPr>
            </a:lvl1pPr>
          </a:lstStyle>
          <a:p>
            <a:r>
              <a:t>Statistical Machine Translation Architecture</a:t>
            </a:r>
          </a:p>
        </p:txBody>
      </p:sp>
      <p:pic>
        <p:nvPicPr>
          <p:cNvPr id="166" name="Picture 2" descr="Picture 2"/>
          <p:cNvPicPr>
            <a:picLocks noChangeAspect="1"/>
          </p:cNvPicPr>
          <p:nvPr/>
        </p:nvPicPr>
        <p:blipFill>
          <a:blip r:embed="rId5"/>
          <a:stretch>
            <a:fillRect/>
          </a:stretch>
        </p:blipFill>
        <p:spPr>
          <a:xfrm>
            <a:off x="6086792" y="1536360"/>
            <a:ext cx="4626831" cy="3889966"/>
          </a:xfrm>
          <a:prstGeom prst="rect">
            <a:avLst/>
          </a:prstGeom>
          <a:ln w="12700">
            <a:miter lim="400000"/>
          </a:ln>
        </p:spPr>
      </p:pic>
      <p:sp>
        <p:nvSpPr>
          <p:cNvPr id="167" name="TextBox 1"/>
          <p:cNvSpPr txBox="1"/>
          <p:nvPr/>
        </p:nvSpPr>
        <p:spPr>
          <a:xfrm>
            <a:off x="1149350" y="1672528"/>
            <a:ext cx="4260753" cy="19486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spcBef>
                <a:spcPts val="400"/>
              </a:spcBef>
              <a:defRPr>
                <a:latin typeface="Times New Roman"/>
                <a:ea typeface="Times New Roman"/>
                <a:cs typeface="Times New Roman"/>
                <a:sym typeface="Times New Roman"/>
              </a:defRPr>
            </a:lvl1pPr>
          </a:lstStyle>
          <a:p>
            <a:r>
              <a:t>This study uses IBM Model 1 as the baseline, employing word-based translation and probability assessment via a word alignment technique. It processes translations from source to target words using metrics ranging from one-to-zero, one-to-one, to one-to-many.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172" name="Rectangle 6"/>
          <p:cNvGrpSpPr/>
          <p:nvPr/>
        </p:nvGrpSpPr>
        <p:grpSpPr>
          <a:xfrm>
            <a:off x="0" y="6217525"/>
            <a:ext cx="8498542" cy="411528"/>
            <a:chOff x="0" y="0"/>
            <a:chExt cx="8498541" cy="411527"/>
          </a:xfrm>
        </p:grpSpPr>
        <p:sp>
          <p:nvSpPr>
            <p:cNvPr id="170"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71"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73"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174"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175"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t>Proposed Model</a:t>
            </a:r>
          </a:p>
        </p:txBody>
      </p:sp>
      <p:sp>
        <p:nvSpPr>
          <p:cNvPr id="176" name="TextBox 35"/>
          <p:cNvSpPr txBox="1"/>
          <p:nvPr/>
        </p:nvSpPr>
        <p:spPr>
          <a:xfrm>
            <a:off x="6979518" y="5392416"/>
            <a:ext cx="3523019" cy="3484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spcBef>
                <a:spcPts val="400"/>
              </a:spcBef>
              <a:defRPr>
                <a:latin typeface="Times New Roman"/>
                <a:ea typeface="Times New Roman"/>
                <a:cs typeface="Times New Roman"/>
                <a:sym typeface="Times New Roman"/>
              </a:defRPr>
            </a:lvl1pPr>
          </a:lstStyle>
          <a:p>
            <a:r>
              <a:t>Framework of Proposed Model</a:t>
            </a:r>
          </a:p>
        </p:txBody>
      </p:sp>
      <p:sp>
        <p:nvSpPr>
          <p:cNvPr id="177" name="TextBox 1"/>
          <p:cNvSpPr txBox="1"/>
          <p:nvPr/>
        </p:nvSpPr>
        <p:spPr>
          <a:xfrm>
            <a:off x="992097" y="1582101"/>
            <a:ext cx="4260753" cy="1681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spcBef>
                <a:spcPts val="400"/>
              </a:spcBef>
              <a:defRPr>
                <a:latin typeface="Times New Roman"/>
                <a:ea typeface="Times New Roman"/>
                <a:cs typeface="Times New Roman"/>
                <a:sym typeface="Times New Roman"/>
              </a:defRPr>
            </a:lvl1pPr>
          </a:lstStyle>
          <a:p>
            <a:r>
              <a:t>The proposed model integrates a Bi-LSTM with Dropout and Dense layers to enhance performance, supplemented by advanced data cleaning and preprocessing techniques to achieve acceptable results and improvements.</a:t>
            </a:r>
          </a:p>
        </p:txBody>
      </p:sp>
      <p:pic>
        <p:nvPicPr>
          <p:cNvPr id="178" name="Picture 2" descr="Picture 2"/>
          <p:cNvPicPr>
            <a:picLocks noChangeAspect="1"/>
          </p:cNvPicPr>
          <p:nvPr/>
        </p:nvPicPr>
        <p:blipFill>
          <a:blip r:embed="rId5"/>
          <a:stretch>
            <a:fillRect/>
          </a:stretch>
        </p:blipFill>
        <p:spPr>
          <a:xfrm>
            <a:off x="5766096" y="1581492"/>
            <a:ext cx="5794533" cy="3762913"/>
          </a:xfrm>
          <a:prstGeom prst="rect">
            <a:avLst/>
          </a:prstGeom>
          <a:ln w="12700">
            <a:miter lim="400000"/>
          </a:ln>
        </p:spPr>
      </p:pic>
      <p:pic>
        <p:nvPicPr>
          <p:cNvPr id="179" name="Picture 13" descr="Picture 13"/>
          <p:cNvPicPr>
            <a:picLocks noChangeAspect="1"/>
          </p:cNvPicPr>
          <p:nvPr/>
        </p:nvPicPr>
        <p:blipFill>
          <a:blip r:embed="rId6"/>
          <a:stretch>
            <a:fillRect/>
          </a:stretch>
        </p:blipFill>
        <p:spPr>
          <a:xfrm>
            <a:off x="6337851" y="3387971"/>
            <a:ext cx="340568" cy="137886"/>
          </a:xfrm>
          <a:prstGeom prst="rect">
            <a:avLst/>
          </a:prstGeom>
          <a:ln w="12700">
            <a:miter lim="400000"/>
          </a:ln>
        </p:spPr>
      </p:pic>
      <p:sp>
        <p:nvSpPr>
          <p:cNvPr id="180" name="TextBox 14"/>
          <p:cNvSpPr txBox="1"/>
          <p:nvPr/>
        </p:nvSpPr>
        <p:spPr>
          <a:xfrm>
            <a:off x="6262514" y="3334980"/>
            <a:ext cx="742730" cy="189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spcBef>
                <a:spcPts val="400"/>
              </a:spcBef>
              <a:defRPr sz="700">
                <a:solidFill>
                  <a:srgbClr val="595959"/>
                </a:solidFill>
                <a:latin typeface="Times New Roman"/>
                <a:ea typeface="Times New Roman"/>
                <a:cs typeface="Times New Roman"/>
                <a:sym typeface="Times New Roman"/>
              </a:defRPr>
            </a:lvl1pPr>
          </a:lstStyle>
          <a:p>
            <a:r>
              <a:t>Hiligaynon</a:t>
            </a:r>
          </a:p>
        </p:txBody>
      </p:sp>
      <p:pic>
        <p:nvPicPr>
          <p:cNvPr id="181" name="Picture 17" descr="Picture 17"/>
          <p:cNvPicPr>
            <a:picLocks noChangeAspect="1"/>
          </p:cNvPicPr>
          <p:nvPr/>
        </p:nvPicPr>
        <p:blipFill>
          <a:blip r:embed="rId6"/>
          <a:stretch>
            <a:fillRect/>
          </a:stretch>
        </p:blipFill>
        <p:spPr>
          <a:xfrm>
            <a:off x="6272019" y="4253491"/>
            <a:ext cx="454015" cy="355601"/>
          </a:xfrm>
          <a:prstGeom prst="rect">
            <a:avLst/>
          </a:prstGeom>
          <a:ln w="12700">
            <a:miter lim="400000"/>
          </a:ln>
        </p:spPr>
      </p:pic>
      <p:sp>
        <p:nvSpPr>
          <p:cNvPr id="182" name="TextBox 15"/>
          <p:cNvSpPr txBox="1"/>
          <p:nvPr/>
        </p:nvSpPr>
        <p:spPr>
          <a:xfrm>
            <a:off x="6145350" y="4146548"/>
            <a:ext cx="742730" cy="4940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spcBef>
                <a:spcPts val="400"/>
              </a:spcBef>
              <a:defRPr sz="700">
                <a:solidFill>
                  <a:srgbClr val="595959"/>
                </a:solidFill>
                <a:latin typeface="Times New Roman"/>
                <a:ea typeface="Times New Roman"/>
                <a:cs typeface="Times New Roman"/>
                <a:sym typeface="Times New Roman"/>
              </a:defRPr>
            </a:pPr>
            <a:r>
              <a:t>Dictionary</a:t>
            </a:r>
            <a:br/>
            <a:r>
              <a:t>Stories</a:t>
            </a:r>
            <a:br/>
            <a:r>
              <a:t>Rhymes</a:t>
            </a:r>
            <a:br/>
            <a:r>
              <a:t>Songs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187" name="Rectangle 6"/>
          <p:cNvGrpSpPr/>
          <p:nvPr/>
        </p:nvGrpSpPr>
        <p:grpSpPr>
          <a:xfrm>
            <a:off x="0" y="6217525"/>
            <a:ext cx="8498542" cy="411528"/>
            <a:chOff x="0" y="0"/>
            <a:chExt cx="8498541" cy="411527"/>
          </a:xfrm>
        </p:grpSpPr>
        <p:sp>
          <p:nvSpPr>
            <p:cNvPr id="185"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86"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88"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189"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190"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rPr dirty="0"/>
              <a:t>Feature Selection, Extraction, and Categorization</a:t>
            </a:r>
          </a:p>
        </p:txBody>
      </p:sp>
      <p:sp>
        <p:nvSpPr>
          <p:cNvPr id="191" name="TextBox 2"/>
          <p:cNvSpPr txBox="1"/>
          <p:nvPr/>
        </p:nvSpPr>
        <p:spPr>
          <a:xfrm>
            <a:off x="569133" y="1631654"/>
            <a:ext cx="10740626" cy="43870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spcBef>
                <a:spcPts val="400"/>
              </a:spcBef>
              <a:defRPr b="1">
                <a:latin typeface="Times New Roman"/>
                <a:ea typeface="Times New Roman"/>
                <a:cs typeface="Times New Roman"/>
                <a:sym typeface="Times New Roman"/>
              </a:defRPr>
            </a:pPr>
            <a:r>
              <a:t>Embedding Layer</a:t>
            </a:r>
          </a:p>
          <a:p>
            <a:pPr algn="just">
              <a:spcBef>
                <a:spcPts val="400"/>
              </a:spcBef>
              <a:defRPr>
                <a:solidFill>
                  <a:srgbClr val="282829"/>
                </a:solidFill>
                <a:latin typeface="Times New Roman"/>
                <a:ea typeface="Times New Roman"/>
                <a:cs typeface="Times New Roman"/>
                <a:sym typeface="Times New Roman"/>
              </a:defRPr>
            </a:pPr>
            <a:r>
              <a:t>The Embedding layer is used to create word vectors for incoming words. It sits between the input and the LSTM layer, the output of the Embedding layer is the input to the LSTM layer.</a:t>
            </a:r>
          </a:p>
          <a:p>
            <a:pPr algn="just">
              <a:spcBef>
                <a:spcPts val="400"/>
              </a:spcBef>
              <a:defRPr>
                <a:latin typeface="Times New Roman"/>
                <a:ea typeface="Times New Roman"/>
                <a:cs typeface="Times New Roman"/>
                <a:sym typeface="Times New Roman"/>
              </a:defRPr>
            </a:pPr>
            <a:br/>
            <a:r>
              <a:rPr b="1"/>
              <a:t>Dropout Layer</a:t>
            </a:r>
          </a:p>
          <a:p>
            <a:pPr algn="just">
              <a:spcBef>
                <a:spcPts val="400"/>
              </a:spcBef>
              <a:defRPr>
                <a:latin typeface="Times New Roman"/>
                <a:ea typeface="Times New Roman"/>
                <a:cs typeface="Times New Roman"/>
                <a:sym typeface="Times New Roman"/>
              </a:defRPr>
            </a:pPr>
            <a:r>
              <a:t>The term “dropout” refers to dropping out the nodes in a neural network. All the forward and backwards connections with a dropped node are temporarily removed, thus creating a new network architecture out of the parent network. Dropout layer ignores a set of neurons randomly this layer normally used to prevent net from overfitting.</a:t>
            </a:r>
          </a:p>
          <a:p>
            <a:pPr algn="just">
              <a:spcBef>
                <a:spcPts val="400"/>
              </a:spcBef>
              <a:defRPr>
                <a:latin typeface="Times New Roman"/>
                <a:ea typeface="Times New Roman"/>
                <a:cs typeface="Times New Roman"/>
                <a:sym typeface="Times New Roman"/>
              </a:defRPr>
            </a:pPr>
            <a:br/>
            <a:r>
              <a:rPr b="1"/>
              <a:t>Dense Layer</a:t>
            </a:r>
          </a:p>
          <a:p>
            <a:pPr algn="just">
              <a:spcBef>
                <a:spcPts val="400"/>
              </a:spcBef>
              <a:defRPr>
                <a:latin typeface="Times New Roman"/>
                <a:ea typeface="Times New Roman"/>
                <a:cs typeface="Times New Roman"/>
                <a:sym typeface="Times New Roman"/>
              </a:defRPr>
            </a:pPr>
            <a:r>
              <a:t>Dense layer is a layer that is deeply connected with its preceding layer which means the neurons of the layer are connected to every neuron of its preceding layer. This layer is the most commonly used layer in neural networks</a:t>
            </a:r>
          </a:p>
          <a:p>
            <a:pPr>
              <a:defRPr>
                <a:latin typeface="Times New Roman"/>
                <a:ea typeface="Times New Roman"/>
                <a:cs typeface="Times New Roman"/>
                <a:sym typeface="Times New Roman"/>
              </a:defRPr>
            </a:pPr>
            <a:b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 name="Picture 3" descr="Picture 3"/>
          <p:cNvPicPr>
            <a:picLocks noChangeAspect="1"/>
          </p:cNvPicPr>
          <p:nvPr/>
        </p:nvPicPr>
        <p:blipFill>
          <a:blip r:embed="rId2"/>
          <a:stretch>
            <a:fillRect/>
          </a:stretch>
        </p:blipFill>
        <p:spPr>
          <a:xfrm>
            <a:off x="-1" y="0"/>
            <a:ext cx="12192001" cy="6858000"/>
          </a:xfrm>
          <a:prstGeom prst="rect">
            <a:avLst/>
          </a:prstGeom>
          <a:ln w="12700" cap="flat">
            <a:noFill/>
            <a:miter lim="400000"/>
          </a:ln>
          <a:effectLst/>
        </p:spPr>
      </p:pic>
      <p:grpSp>
        <p:nvGrpSpPr>
          <p:cNvPr id="198" name="Group 4"/>
          <p:cNvGrpSpPr/>
          <p:nvPr/>
        </p:nvGrpSpPr>
        <p:grpSpPr>
          <a:xfrm>
            <a:off x="-2" y="5976544"/>
            <a:ext cx="8498544" cy="834190"/>
            <a:chOff x="0" y="0"/>
            <a:chExt cx="8498542" cy="834189"/>
          </a:xfrm>
        </p:grpSpPr>
        <p:grpSp>
          <p:nvGrpSpPr>
            <p:cNvPr id="196" name="Rectangle 5"/>
            <p:cNvGrpSpPr/>
            <p:nvPr/>
          </p:nvGrpSpPr>
          <p:grpSpPr>
            <a:xfrm>
              <a:off x="-1" y="244319"/>
              <a:ext cx="8498544" cy="411528"/>
              <a:chOff x="0" y="0"/>
              <a:chExt cx="8498542" cy="411526"/>
            </a:xfrm>
          </p:grpSpPr>
          <p:sp>
            <p:nvSpPr>
              <p:cNvPr id="194" name="Rectangle"/>
              <p:cNvSpPr/>
              <p:nvPr/>
            </p:nvSpPr>
            <p:spPr>
              <a:xfrm>
                <a:off x="-1" y="0"/>
                <a:ext cx="8498544" cy="411527"/>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195" name="COLLEGE OF COMPUTING EDUCATION"/>
              <p:cNvSpPr txBox="1"/>
              <p:nvPr/>
            </p:nvSpPr>
            <p:spPr>
              <a:xfrm>
                <a:off x="45719" y="45743"/>
                <a:ext cx="8407104"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197" name="Picture 6" descr="Picture 6"/>
            <p:cNvPicPr>
              <a:picLocks noChangeAspect="1"/>
            </p:cNvPicPr>
            <p:nvPr/>
          </p:nvPicPr>
          <p:blipFill>
            <a:blip r:embed="rId3"/>
            <a:stretch>
              <a:fillRect/>
            </a:stretch>
          </p:blipFill>
          <p:spPr>
            <a:xfrm>
              <a:off x="256305" y="0"/>
              <a:ext cx="847326" cy="834190"/>
            </a:xfrm>
            <a:prstGeom prst="rect">
              <a:avLst/>
            </a:prstGeom>
            <a:ln w="12700" cap="flat">
              <a:noFill/>
              <a:miter lim="400000"/>
            </a:ln>
            <a:effectLst/>
          </p:spPr>
        </p:pic>
      </p:grpSp>
      <p:pic>
        <p:nvPicPr>
          <p:cNvPr id="199" name="Picture 2" descr="Picture 2"/>
          <p:cNvPicPr>
            <a:picLocks noChangeAspect="1"/>
          </p:cNvPicPr>
          <p:nvPr/>
        </p:nvPicPr>
        <p:blipFill>
          <a:blip r:embed="rId4"/>
          <a:srcRect r="77606" b="84977"/>
          <a:stretch>
            <a:fillRect/>
          </a:stretch>
        </p:blipFill>
        <p:spPr>
          <a:xfrm>
            <a:off x="-2" y="3336"/>
            <a:ext cx="1657987" cy="834190"/>
          </a:xfrm>
          <a:prstGeom prst="rect">
            <a:avLst/>
          </a:prstGeom>
          <a:ln w="12700" cap="flat">
            <a:noFill/>
            <a:miter lim="400000"/>
          </a:ln>
          <a:effectLst/>
        </p:spPr>
      </p:pic>
      <p:sp>
        <p:nvSpPr>
          <p:cNvPr id="201" name="Title 10"/>
          <p:cNvSpPr txBox="1">
            <a:spLocks noGrp="1"/>
          </p:cNvSpPr>
          <p:nvPr>
            <p:ph type="title"/>
          </p:nvPr>
        </p:nvSpPr>
        <p:spPr>
          <a:xfrm>
            <a:off x="2101719" y="628924"/>
            <a:ext cx="7988559" cy="908659"/>
          </a:xfrm>
          <a:prstGeom prst="rect">
            <a:avLst/>
          </a:prstGeom>
        </p:spPr>
        <p:txBody>
          <a:bodyPr/>
          <a:lstStyle/>
          <a:p>
            <a:r>
              <a:rPr dirty="0">
                <a:latin typeface="Times New Roman" panose="02020603050405020304" pitchFamily="18" charset="0"/>
                <a:cs typeface="Times New Roman" panose="02020603050405020304" pitchFamily="18" charset="0"/>
              </a:rPr>
              <a:t>Data Cleaning and Preprocessing</a:t>
            </a:r>
          </a:p>
        </p:txBody>
      </p:sp>
      <p:grpSp>
        <p:nvGrpSpPr>
          <p:cNvPr id="2" name="Group 1">
            <a:extLst>
              <a:ext uri="{FF2B5EF4-FFF2-40B4-BE49-F238E27FC236}">
                <a16:creationId xmlns:a16="http://schemas.microsoft.com/office/drawing/2014/main" id="{247F3036-58CD-AA4B-FDD8-67F71E4ABE09}"/>
              </a:ext>
            </a:extLst>
          </p:cNvPr>
          <p:cNvGrpSpPr/>
          <p:nvPr/>
        </p:nvGrpSpPr>
        <p:grpSpPr>
          <a:xfrm>
            <a:off x="1133771" y="2321310"/>
            <a:ext cx="9924453" cy="490940"/>
            <a:chOff x="948180" y="3232820"/>
            <a:chExt cx="9924453" cy="490940"/>
          </a:xfrm>
        </p:grpSpPr>
        <p:sp>
          <p:nvSpPr>
            <p:cNvPr id="202" name="TextBox 12"/>
            <p:cNvSpPr txBox="1"/>
            <p:nvPr/>
          </p:nvSpPr>
          <p:spPr>
            <a:xfrm>
              <a:off x="948180" y="3232820"/>
              <a:ext cx="1857905"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a:latin typeface="Times New Roman"/>
                  <a:ea typeface="Times New Roman"/>
                  <a:cs typeface="Times New Roman"/>
                  <a:sym typeface="Times New Roman"/>
                </a:defRPr>
              </a:lvl1pPr>
            </a:lstStyle>
            <a:p>
              <a:r>
                <a:rPr sz="2400" b="1" dirty="0"/>
                <a:t>Tokenization</a:t>
              </a:r>
            </a:p>
          </p:txBody>
        </p:sp>
        <p:sp>
          <p:nvSpPr>
            <p:cNvPr id="203" name="TextBox 13"/>
            <p:cNvSpPr txBox="1"/>
            <p:nvPr/>
          </p:nvSpPr>
          <p:spPr>
            <a:xfrm>
              <a:off x="3022995" y="3262095"/>
              <a:ext cx="2924635"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a:latin typeface="Times New Roman"/>
                  <a:ea typeface="Times New Roman"/>
                  <a:cs typeface="Times New Roman"/>
                  <a:sym typeface="Times New Roman"/>
                </a:defRPr>
              </a:lvl1pPr>
            </a:lstStyle>
            <a:p>
              <a:r>
                <a:rPr sz="2400" b="1" dirty="0"/>
                <a:t>Word Normalization</a:t>
              </a:r>
            </a:p>
          </p:txBody>
        </p:sp>
        <p:sp>
          <p:nvSpPr>
            <p:cNvPr id="204" name="TextBox 14"/>
            <p:cNvSpPr txBox="1"/>
            <p:nvPr/>
          </p:nvSpPr>
          <p:spPr>
            <a:xfrm>
              <a:off x="6164541" y="3232820"/>
              <a:ext cx="2924635"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a:latin typeface="Times New Roman"/>
                  <a:ea typeface="Times New Roman"/>
                  <a:cs typeface="Times New Roman"/>
                  <a:sym typeface="Times New Roman"/>
                </a:defRPr>
              </a:lvl1pPr>
            </a:lstStyle>
            <a:p>
              <a:r>
                <a:rPr sz="2400" b="1" dirty="0"/>
                <a:t>Punctuation Removal</a:t>
              </a:r>
            </a:p>
          </p:txBody>
        </p:sp>
        <p:sp>
          <p:nvSpPr>
            <p:cNvPr id="205" name="TextBox 15"/>
            <p:cNvSpPr txBox="1"/>
            <p:nvPr/>
          </p:nvSpPr>
          <p:spPr>
            <a:xfrm>
              <a:off x="9306086" y="3232820"/>
              <a:ext cx="1566547"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a:latin typeface="Times New Roman"/>
                  <a:ea typeface="Times New Roman"/>
                  <a:cs typeface="Times New Roman"/>
                  <a:sym typeface="Times New Roman"/>
                </a:defRPr>
              </a:lvl1pPr>
            </a:lstStyle>
            <a:p>
              <a:r>
                <a:rPr sz="2400" b="1" dirty="0"/>
                <a:t>Stemming</a:t>
              </a: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10" name="Rectangle 6"/>
          <p:cNvGrpSpPr/>
          <p:nvPr/>
        </p:nvGrpSpPr>
        <p:grpSpPr>
          <a:xfrm>
            <a:off x="0" y="6217525"/>
            <a:ext cx="8498542" cy="411528"/>
            <a:chOff x="0" y="0"/>
            <a:chExt cx="8498541" cy="411527"/>
          </a:xfrm>
        </p:grpSpPr>
        <p:sp>
          <p:nvSpPr>
            <p:cNvPr id="208"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09"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11"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12"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13" name="Title 8"/>
          <p:cNvSpPr txBox="1">
            <a:spLocks noGrp="1"/>
          </p:cNvSpPr>
          <p:nvPr>
            <p:ph type="title"/>
          </p:nvPr>
        </p:nvSpPr>
        <p:spPr>
          <a:xfrm>
            <a:off x="838200" y="2200293"/>
            <a:ext cx="10515600" cy="1325564"/>
          </a:xfrm>
          <a:prstGeom prst="rect">
            <a:avLst/>
          </a:prstGeom>
        </p:spPr>
        <p:txBody>
          <a:bodyPr/>
          <a:lstStyle>
            <a:lvl1pPr algn="ctr">
              <a:defRPr>
                <a:latin typeface="Times New Roman"/>
                <a:ea typeface="Times New Roman"/>
                <a:cs typeface="Times New Roman"/>
                <a:sym typeface="Times New Roman"/>
              </a:defRPr>
            </a:lvl1pPr>
          </a:lstStyle>
          <a:p>
            <a:r>
              <a:t>Software Demo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18" name="Rectangle 6"/>
          <p:cNvGrpSpPr/>
          <p:nvPr/>
        </p:nvGrpSpPr>
        <p:grpSpPr>
          <a:xfrm>
            <a:off x="0" y="6217525"/>
            <a:ext cx="8498542" cy="411528"/>
            <a:chOff x="0" y="0"/>
            <a:chExt cx="8498541" cy="411527"/>
          </a:xfrm>
        </p:grpSpPr>
        <p:sp>
          <p:nvSpPr>
            <p:cNvPr id="216"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17"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19"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20"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21"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t>Results &amp; Discussion</a:t>
            </a:r>
          </a:p>
        </p:txBody>
      </p:sp>
      <p:sp>
        <p:nvSpPr>
          <p:cNvPr id="222" name="TextBox 2"/>
          <p:cNvSpPr txBox="1"/>
          <p:nvPr/>
        </p:nvSpPr>
        <p:spPr>
          <a:xfrm>
            <a:off x="1149350" y="1755717"/>
            <a:ext cx="10326187" cy="2786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spcBef>
                <a:spcPts val="600"/>
              </a:spcBef>
              <a:defRPr b="1">
                <a:latin typeface="Times New Roman"/>
                <a:ea typeface="Times New Roman"/>
                <a:cs typeface="Times New Roman"/>
                <a:sym typeface="Times New Roman"/>
              </a:defRPr>
            </a:pPr>
            <a:r>
              <a:t>Model Implementation</a:t>
            </a:r>
          </a:p>
          <a:p>
            <a:pPr lvl="1">
              <a:spcBef>
                <a:spcPts val="600"/>
              </a:spcBef>
              <a:defRPr>
                <a:latin typeface="Times New Roman"/>
                <a:ea typeface="Times New Roman"/>
                <a:cs typeface="Times New Roman"/>
                <a:sym typeface="Times New Roman"/>
              </a:defRPr>
            </a:pPr>
            <a:r>
              <a:t>Utilizes IBM Model 1, known for simplicity and effective lexical translations. Operates on word alignment mechanism, initialized using Hidden-Markov Alignment. Data preparation includes cleaning, tokenizing, and building vocabulary essential for training.</a:t>
            </a:r>
          </a:p>
          <a:p>
            <a:pPr>
              <a:spcBef>
                <a:spcPts val="600"/>
              </a:spcBef>
              <a:defRPr>
                <a:latin typeface="Times New Roman"/>
                <a:ea typeface="Times New Roman"/>
                <a:cs typeface="Times New Roman"/>
                <a:sym typeface="Times New Roman"/>
              </a:defRPr>
            </a:pPr>
            <a:endParaRPr/>
          </a:p>
          <a:p>
            <a:pPr>
              <a:spcBef>
                <a:spcPts val="600"/>
              </a:spcBef>
              <a:defRPr b="1">
                <a:latin typeface="Times New Roman"/>
                <a:ea typeface="Times New Roman"/>
                <a:cs typeface="Times New Roman"/>
                <a:sym typeface="Times New Roman"/>
              </a:defRPr>
            </a:pPr>
            <a:r>
              <a:t>Training Process</a:t>
            </a:r>
          </a:p>
          <a:p>
            <a:pPr lvl="1">
              <a:spcBef>
                <a:spcPts val="600"/>
              </a:spcBef>
              <a:defRPr>
                <a:latin typeface="Times New Roman"/>
                <a:ea typeface="Times New Roman"/>
                <a:cs typeface="Times New Roman"/>
                <a:sym typeface="Times New Roman"/>
              </a:defRPr>
            </a:pPr>
            <a:r>
              <a:t>Iterative estimation of word probabilities conditioned on valid pairs. Utilizes unigrams and bigrams to model language structure and learn patterns. Analyzes sentence fragments to grasp meanings and contexts. Training data limited to approximately 5000 unique words and 2000 repeated words.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27" name="Rectangle 6"/>
          <p:cNvGrpSpPr/>
          <p:nvPr/>
        </p:nvGrpSpPr>
        <p:grpSpPr>
          <a:xfrm>
            <a:off x="0" y="6217525"/>
            <a:ext cx="8498542" cy="411528"/>
            <a:chOff x="0" y="0"/>
            <a:chExt cx="8498541" cy="411527"/>
          </a:xfrm>
        </p:grpSpPr>
        <p:sp>
          <p:nvSpPr>
            <p:cNvPr id="225"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26"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28"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29"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30" name="Title 8"/>
          <p:cNvSpPr txBox="1">
            <a:spLocks noGrp="1"/>
          </p:cNvSpPr>
          <p:nvPr>
            <p:ph type="title"/>
          </p:nvPr>
        </p:nvSpPr>
        <p:spPr>
          <a:xfrm>
            <a:off x="723977" y="276900"/>
            <a:ext cx="10515601" cy="1325564"/>
          </a:xfrm>
          <a:prstGeom prst="rect">
            <a:avLst/>
          </a:prstGeom>
        </p:spPr>
        <p:txBody>
          <a:bodyPr/>
          <a:lstStyle>
            <a:lvl1pPr algn="ctr">
              <a:defRPr>
                <a:latin typeface="Times New Roman"/>
                <a:ea typeface="Times New Roman"/>
                <a:cs typeface="Times New Roman"/>
                <a:sym typeface="Times New Roman"/>
              </a:defRPr>
            </a:lvl1pPr>
          </a:lstStyle>
          <a:p>
            <a:r>
              <a:t>Results &amp; Discussion</a:t>
            </a:r>
          </a:p>
        </p:txBody>
      </p:sp>
      <p:sp>
        <p:nvSpPr>
          <p:cNvPr id="231" name="TextBox 10"/>
          <p:cNvSpPr txBox="1"/>
          <p:nvPr/>
        </p:nvSpPr>
        <p:spPr>
          <a:xfrm>
            <a:off x="801267" y="1434635"/>
            <a:ext cx="10214131" cy="3416320"/>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latin typeface="Times New Roman" panose="02020603050405020304" pitchFamily="18" charset="0"/>
                <a:cs typeface="Times New Roman" panose="02020603050405020304" pitchFamily="18" charset="0"/>
              </a:rPr>
              <a:t>Base Model Results Evaluation</a:t>
            </a:r>
          </a:p>
          <a:p>
            <a:pPr lvl="1"/>
            <a:r>
              <a:rPr dirty="0">
                <a:latin typeface="Times New Roman" panose="02020603050405020304" pitchFamily="18" charset="0"/>
                <a:cs typeface="Times New Roman" panose="02020603050405020304" pitchFamily="18" charset="0"/>
              </a:rPr>
              <a:t>The Base Model achieved a BLEU score of 24.81%, indicating basic comprehension but with noticeable grammatical errors. It showed a 55.35% probability of producing correct translations, though it struggled with complex vocabulary and sentence structures. A high number of mistranslations and untranslatable words highlighted its limitations in accurately translating between Filipino and Hiligaynon.</a:t>
            </a:r>
          </a:p>
          <a:p>
            <a:pPr lvl="1"/>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ea typeface="Times New Roman"/>
              <a:cs typeface="Times New Roman" panose="02020603050405020304" pitchFamily="18" charset="0"/>
              <a:sym typeface="Times New Roman"/>
            </a:endParaRPr>
          </a:p>
          <a:p>
            <a:r>
              <a:rPr dirty="0">
                <a:latin typeface="Times New Roman" panose="02020603050405020304" pitchFamily="18" charset="0"/>
                <a:cs typeface="Times New Roman" panose="02020603050405020304" pitchFamily="18" charset="0"/>
              </a:rPr>
              <a:t>Enhancement with Bi-LSTM</a:t>
            </a:r>
          </a:p>
          <a:p>
            <a:pPr lvl="1"/>
            <a:r>
              <a:rPr dirty="0">
                <a:latin typeface="Times New Roman" panose="02020603050405020304" pitchFamily="18" charset="0"/>
                <a:cs typeface="Times New Roman" panose="02020603050405020304" pitchFamily="18" charset="0"/>
              </a:rPr>
              <a:t>With the integration of Bi-LSTM, the model’s performance improved. The BLEU score increased to 26.42%, and translation accuracy rose by 12.90%. This enhancement significantly reduced mistranslations and untranslatable words, reflecting better handling of complex and rare terms. The Bi-LSTM’s dual-directional context provided deeper sequence understanding, leading to clearer and more accurate translations.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36" name="Rectangle 6"/>
          <p:cNvGrpSpPr/>
          <p:nvPr/>
        </p:nvGrpSpPr>
        <p:grpSpPr>
          <a:xfrm>
            <a:off x="0" y="6217525"/>
            <a:ext cx="8498542" cy="411528"/>
            <a:chOff x="0" y="0"/>
            <a:chExt cx="8498541" cy="411527"/>
          </a:xfrm>
        </p:grpSpPr>
        <p:sp>
          <p:nvSpPr>
            <p:cNvPr id="234"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35"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37"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38"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39"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t>Conclusion</a:t>
            </a:r>
          </a:p>
        </p:txBody>
      </p:sp>
      <p:sp>
        <p:nvSpPr>
          <p:cNvPr id="240" name="TextBox 2"/>
          <p:cNvSpPr txBox="1"/>
          <p:nvPr/>
        </p:nvSpPr>
        <p:spPr>
          <a:xfrm>
            <a:off x="942553" y="1395555"/>
            <a:ext cx="10288480" cy="1948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latin typeface="Times New Roman"/>
                <a:ea typeface="Times New Roman"/>
                <a:cs typeface="Times New Roman"/>
                <a:sym typeface="Times New Roman"/>
              </a:defRPr>
            </a:lvl1pPr>
          </a:lstStyle>
          <a:p>
            <a:r>
              <a:t>The IBM Model 1 of Statistical Machine Translation achieved a BLEU score of 24.81%, with a fair translation quality with noticeable grammatical errors. The integration of Bi-LSTM improves the translation accuracy to 26% demonstrating the effectiveness of bidirectional contextual learning. The model provides solid foundation for word-based translation and probabilistic translation model and the addition of Bidirectional LSTM enhanced its translation quality by incorporating multiple layers and its capability of contextualizing data from both directions. In Addition, there is also an increase of average probability score of 12.90% upon testing its average score.</a:t>
            </a:r>
          </a:p>
        </p:txBody>
      </p:sp>
      <p:graphicFrame>
        <p:nvGraphicFramePr>
          <p:cNvPr id="241" name="Chart 7"/>
          <p:cNvGraphicFramePr/>
          <p:nvPr/>
        </p:nvGraphicFramePr>
        <p:xfrm>
          <a:off x="1859283" y="3633341"/>
          <a:ext cx="3936386" cy="201608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2" name="Chart 9"/>
          <p:cNvGraphicFramePr/>
          <p:nvPr/>
        </p:nvGraphicFramePr>
        <p:xfrm>
          <a:off x="6936631" y="3633342"/>
          <a:ext cx="3936385" cy="2016086"/>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47" name="Rectangle 6"/>
          <p:cNvGrpSpPr/>
          <p:nvPr/>
        </p:nvGrpSpPr>
        <p:grpSpPr>
          <a:xfrm>
            <a:off x="0" y="6217525"/>
            <a:ext cx="8498542" cy="411528"/>
            <a:chOff x="0" y="0"/>
            <a:chExt cx="8498541" cy="411527"/>
          </a:xfrm>
        </p:grpSpPr>
        <p:sp>
          <p:nvSpPr>
            <p:cNvPr id="245"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46"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48"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49"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50" name="TextBox 10"/>
          <p:cNvSpPr txBox="1"/>
          <p:nvPr/>
        </p:nvSpPr>
        <p:spPr>
          <a:xfrm>
            <a:off x="891034" y="936835"/>
            <a:ext cx="10214131" cy="2097690"/>
          </a:xfrm>
          <a:prstGeom prst="rect">
            <a:avLst/>
          </a:prstGeom>
          <a:solidFill>
            <a:srgbClr val="FFFFFF"/>
          </a:solidFill>
          <a:ln w="12700">
            <a:solidFill>
              <a:schemeClr val="accent1"/>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111111"/>
                </a:solidFill>
                <a:latin typeface="+mj-lt"/>
                <a:ea typeface="+mj-ea"/>
                <a:cs typeface="+mj-cs"/>
                <a:sym typeface="Helvetica"/>
              </a:defRPr>
            </a:pPr>
            <a:r>
              <a:rPr dirty="0">
                <a:latin typeface="Times New Roman" panose="02020603050405020304" pitchFamily="18" charset="0"/>
                <a:cs typeface="Times New Roman" panose="02020603050405020304" pitchFamily="18" charset="0"/>
              </a:rPr>
              <a:t>The baseline model had a 55.35% chance of generating correct translations but faced challenges with complex vocabulary and sentence construction. Its frequent mistranslations and untranslatable terms revealed its limitations in accurately translating between Filipino and Hiligaynon.</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111111"/>
                </a:solidFill>
                <a:latin typeface="+mj-lt"/>
                <a:ea typeface="+mj-ea"/>
                <a:cs typeface="+mj-cs"/>
                <a:sym typeface="Helvetica"/>
              </a:defRPr>
            </a:pPr>
            <a:endParaRPr dirty="0">
              <a:latin typeface="Times New Roman" panose="02020603050405020304" pitchFamily="18" charset="0"/>
              <a:cs typeface="Times New Roman" panose="02020603050405020304" pitchFamily="18" charset="0"/>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111111"/>
                </a:solidFill>
                <a:latin typeface="+mj-lt"/>
                <a:ea typeface="+mj-ea"/>
                <a:cs typeface="+mj-cs"/>
                <a:sym typeface="Helvetica"/>
              </a:defRPr>
            </a:pPr>
            <a:r>
              <a:rPr dirty="0">
                <a:latin typeface="Times New Roman" panose="02020603050405020304" pitchFamily="18" charset="0"/>
                <a:cs typeface="Times New Roman" panose="02020603050405020304" pitchFamily="18" charset="0"/>
              </a:rPr>
              <a:t>In contrast, the enhanced model notably decreased both mistranslations and untranslatable words, showing improved capability in managing complex and less common terms. The use of Bi-LSTM, with its bidirectional context processing, contributed to a deeper understanding of sentence structure and produced more precise translations.</a:t>
            </a:r>
          </a:p>
        </p:txBody>
      </p:sp>
      <p:graphicFrame>
        <p:nvGraphicFramePr>
          <p:cNvPr id="251" name="Chart 1"/>
          <p:cNvGraphicFramePr/>
          <p:nvPr/>
        </p:nvGraphicFramePr>
        <p:xfrm>
          <a:off x="955406" y="3559395"/>
          <a:ext cx="4272060" cy="230338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2" name="Chart 1"/>
          <p:cNvGraphicFramePr/>
          <p:nvPr/>
        </p:nvGraphicFramePr>
        <p:xfrm>
          <a:off x="6329826" y="3557852"/>
          <a:ext cx="4530492" cy="2283875"/>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57" name="Rectangle 6"/>
          <p:cNvGrpSpPr/>
          <p:nvPr/>
        </p:nvGrpSpPr>
        <p:grpSpPr>
          <a:xfrm>
            <a:off x="0" y="6217525"/>
            <a:ext cx="8498542" cy="411528"/>
            <a:chOff x="0" y="0"/>
            <a:chExt cx="8498541" cy="411527"/>
          </a:xfrm>
        </p:grpSpPr>
        <p:sp>
          <p:nvSpPr>
            <p:cNvPr id="255"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56"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58"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59"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60" name="Title 8"/>
          <p:cNvSpPr txBox="1">
            <a:spLocks noGrp="1"/>
          </p:cNvSpPr>
          <p:nvPr>
            <p:ph type="title"/>
          </p:nvPr>
        </p:nvSpPr>
        <p:spPr>
          <a:xfrm>
            <a:off x="828993" y="260579"/>
            <a:ext cx="10515601" cy="1325563"/>
          </a:xfrm>
          <a:prstGeom prst="rect">
            <a:avLst/>
          </a:prstGeom>
        </p:spPr>
        <p:txBody>
          <a:bodyPr/>
          <a:lstStyle>
            <a:lvl1pPr algn="ctr">
              <a:defRPr>
                <a:latin typeface="Times New Roman"/>
                <a:ea typeface="Times New Roman"/>
                <a:cs typeface="Times New Roman"/>
                <a:sym typeface="Times New Roman"/>
              </a:defRPr>
            </a:lvl1pPr>
          </a:lstStyle>
          <a:p>
            <a:r>
              <a:t>Recommendation</a:t>
            </a:r>
          </a:p>
        </p:txBody>
      </p:sp>
      <p:sp>
        <p:nvSpPr>
          <p:cNvPr id="261" name="TextBox 7"/>
          <p:cNvSpPr txBox="1"/>
          <p:nvPr/>
        </p:nvSpPr>
        <p:spPr>
          <a:xfrm>
            <a:off x="1243406" y="1283589"/>
            <a:ext cx="9917290" cy="47098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2"/>
          <a:lstStyle/>
          <a:p>
            <a:pPr marL="342900" indent="-342900">
              <a:buSzPct val="100000"/>
              <a:buAutoNum type="arabicPeriod"/>
              <a:defRPr>
                <a:latin typeface="Times New Roman"/>
                <a:ea typeface="Times New Roman"/>
                <a:cs typeface="Times New Roman"/>
                <a:sym typeface="Times New Roman"/>
              </a:defRPr>
            </a:pPr>
            <a:r>
              <a:t>Model Selection:</a:t>
            </a:r>
          </a:p>
          <a:p>
            <a:pPr marL="800100" lvl="1" indent="-342900">
              <a:buSzPct val="100000"/>
              <a:buFont typeface="Arial"/>
              <a:buChar char="•"/>
              <a:defRPr>
                <a:latin typeface="Times New Roman"/>
                <a:ea typeface="Times New Roman"/>
                <a:cs typeface="Times New Roman"/>
                <a:sym typeface="Times New Roman"/>
              </a:defRPr>
            </a:pPr>
            <a:r>
              <a:t>Evaluate the specific requirements and constraints of translation tasks and deciding continuing the IBM Model 1 or another variant of the IBM Model</a:t>
            </a:r>
          </a:p>
          <a:p>
            <a:pPr marL="342900" indent="-342900">
              <a:buSzPct val="100000"/>
              <a:buAutoNum type="arabicPeriod"/>
              <a:defRPr>
                <a:latin typeface="Times New Roman"/>
                <a:ea typeface="Times New Roman"/>
                <a:cs typeface="Times New Roman"/>
                <a:sym typeface="Times New Roman"/>
              </a:defRPr>
            </a:pPr>
            <a:r>
              <a:t>Optimization</a:t>
            </a:r>
          </a:p>
          <a:p>
            <a:pPr marL="800100" lvl="1" indent="-342900">
              <a:buSzPct val="100000"/>
              <a:buFont typeface="Arial"/>
              <a:buChar char="•"/>
              <a:defRPr>
                <a:latin typeface="Times New Roman"/>
                <a:ea typeface="Times New Roman"/>
                <a:cs typeface="Times New Roman"/>
                <a:sym typeface="Times New Roman"/>
              </a:defRPr>
            </a:pPr>
            <a:r>
              <a:t>Enhance accuracy and efficiency through advance parameter optimization techniques.</a:t>
            </a:r>
          </a:p>
          <a:p>
            <a:pPr marL="800100" lvl="1" indent="-342900">
              <a:buSzPct val="100000"/>
              <a:buFont typeface="Arial"/>
              <a:buChar char="•"/>
              <a:defRPr>
                <a:latin typeface="Times New Roman"/>
                <a:ea typeface="Times New Roman"/>
                <a:cs typeface="Times New Roman"/>
                <a:sym typeface="Times New Roman"/>
              </a:defRPr>
            </a:pPr>
            <a:r>
              <a:t>Use Large Datasets to minimize errors and improve quality accuracy translation</a:t>
            </a:r>
          </a:p>
          <a:p>
            <a:pPr marL="342900" indent="-342900">
              <a:buSzPct val="100000"/>
              <a:buAutoNum type="arabicPeriod"/>
              <a:defRPr>
                <a:latin typeface="Times New Roman"/>
                <a:ea typeface="Times New Roman"/>
                <a:cs typeface="Times New Roman"/>
                <a:sym typeface="Times New Roman"/>
              </a:defRPr>
            </a:pPr>
            <a:r>
              <a:t>Comparative studies</a:t>
            </a:r>
          </a:p>
          <a:p>
            <a:pPr marL="800100" lvl="1" indent="-342900">
              <a:buSzPct val="100000"/>
              <a:buFont typeface="Arial"/>
              <a:buChar char="•"/>
              <a:defRPr>
                <a:latin typeface="Times New Roman"/>
                <a:ea typeface="Times New Roman"/>
                <a:cs typeface="Times New Roman"/>
                <a:sym typeface="Times New Roman"/>
              </a:defRPr>
            </a:pPr>
            <a:r>
              <a:t>Assess model adaptability for different contexts.</a:t>
            </a:r>
          </a:p>
          <a:p>
            <a:pPr marL="800100" lvl="1" indent="-342900">
              <a:buSzPct val="100000"/>
              <a:buFont typeface="Arial"/>
              <a:buChar char="•"/>
              <a:defRPr>
                <a:latin typeface="Times New Roman"/>
                <a:ea typeface="Times New Roman"/>
                <a:cs typeface="Times New Roman"/>
                <a:sym typeface="Times New Roman"/>
              </a:defRPr>
            </a:pPr>
            <a:r>
              <a:t>Perform benchmark studies comparing enhanced Statistical Machine Translation (SMT) models with modern models like the Transformer</a:t>
            </a:r>
          </a:p>
          <a:p>
            <a:pPr marL="342900" indent="-342900">
              <a:buSzPct val="100000"/>
              <a:buAutoNum type="arabicPeriod"/>
              <a:defRPr>
                <a:latin typeface="Times New Roman"/>
                <a:ea typeface="Times New Roman"/>
                <a:cs typeface="Times New Roman"/>
                <a:sym typeface="Times New Roman"/>
              </a:defRPr>
            </a:pPr>
            <a:r>
              <a:t>Adopt Neural Machine Translation</a:t>
            </a:r>
          </a:p>
          <a:p>
            <a:pPr marL="800100" lvl="1" indent="-342900">
              <a:buSzPct val="100000"/>
              <a:buFont typeface="Arial"/>
              <a:buChar char="•"/>
              <a:defRPr>
                <a:latin typeface="Times New Roman"/>
                <a:ea typeface="Times New Roman"/>
                <a:cs typeface="Times New Roman"/>
                <a:sym typeface="Times New Roman"/>
              </a:defRPr>
            </a:pPr>
            <a:r>
              <a:t>Consider the benefit of NMT system, especially in handling complex language patterns</a:t>
            </a:r>
          </a:p>
          <a:p>
            <a:pPr marL="800100" lvl="1" indent="-342900">
              <a:buSzPct val="100000"/>
              <a:buFont typeface="Arial"/>
              <a:buChar char="•"/>
              <a:defRPr>
                <a:latin typeface="Times New Roman"/>
                <a:ea typeface="Times New Roman"/>
                <a:cs typeface="Times New Roman"/>
                <a:sym typeface="Times New Roman"/>
              </a:defRPr>
            </a:pPr>
            <a:r>
              <a:t>Bi-LSTM or LSTM in general are easy to integrate into NMT system</a:t>
            </a:r>
          </a:p>
          <a:p>
            <a:pPr marL="800100" lvl="1" indent="-342900">
              <a:buSzPct val="100000"/>
              <a:buFont typeface="Arial"/>
              <a:buChar char="•"/>
              <a:defRPr>
                <a:latin typeface="Times New Roman"/>
                <a:ea typeface="Times New Roman"/>
                <a:cs typeface="Times New Roman"/>
                <a:sym typeface="Times New Roman"/>
              </a:defRPr>
            </a:pPr>
            <a:endParaRPr/>
          </a:p>
          <a:p>
            <a:pPr marL="342900" indent="-342900">
              <a:buSzPct val="100000"/>
              <a:buAutoNum type="arabicPeriod"/>
              <a:defRPr>
                <a:latin typeface="Times New Roman"/>
                <a:ea typeface="Times New Roman"/>
                <a:cs typeface="Times New Roman"/>
                <a:sym typeface="Times New Roman"/>
              </a:defRPr>
            </a:pPr>
            <a:r>
              <a:t>Data Challenges for Less Common Languages</a:t>
            </a:r>
          </a:p>
          <a:p>
            <a:pPr marL="800100" lvl="1" indent="-342900">
              <a:buSzPct val="100000"/>
              <a:buFont typeface="Arial"/>
              <a:buChar char="•"/>
              <a:defRPr>
                <a:latin typeface="Times New Roman"/>
                <a:ea typeface="Times New Roman"/>
                <a:cs typeface="Times New Roman"/>
                <a:sym typeface="Times New Roman"/>
              </a:defRPr>
            </a:pPr>
            <a:r>
              <a:t>Address the scarcity of resources for less commonly spoken languages like Hiligaynon.</a:t>
            </a:r>
          </a:p>
          <a:p>
            <a:pPr marL="800100" lvl="1" indent="-342900">
              <a:buSzPct val="100000"/>
              <a:buFont typeface="Arial"/>
              <a:buChar char="•"/>
              <a:defRPr>
                <a:latin typeface="Times New Roman"/>
                <a:ea typeface="Times New Roman"/>
                <a:cs typeface="Times New Roman"/>
                <a:sym typeface="Times New Roman"/>
              </a:defRPr>
            </a:pPr>
            <a:r>
              <a:t>Highlight challenges such as limited digital presence and smaller speaker population</a:t>
            </a:r>
          </a:p>
          <a:p>
            <a:pPr marL="800100" lvl="1" indent="-342900">
              <a:buSzPct val="100000"/>
              <a:buFont typeface="Arial"/>
              <a:buChar char="•"/>
              <a:defRPr>
                <a:latin typeface="Times New Roman"/>
                <a:ea typeface="Times New Roman"/>
                <a:cs typeface="Times New Roman"/>
                <a:sym typeface="Times New Roman"/>
              </a:defRPr>
            </a:pPr>
            <a:r>
              <a:t>Emphasize the need for comprehensive and diverse datasets.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66" name="Rectangle 6"/>
          <p:cNvGrpSpPr/>
          <p:nvPr/>
        </p:nvGrpSpPr>
        <p:grpSpPr>
          <a:xfrm>
            <a:off x="0" y="6217525"/>
            <a:ext cx="8498542" cy="411528"/>
            <a:chOff x="0" y="0"/>
            <a:chExt cx="8498541" cy="411527"/>
          </a:xfrm>
        </p:grpSpPr>
        <p:sp>
          <p:nvSpPr>
            <p:cNvPr id="264"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65"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67"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68"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69" name="Title 8"/>
          <p:cNvSpPr txBox="1">
            <a:spLocks noGrp="1"/>
          </p:cNvSpPr>
          <p:nvPr>
            <p:ph type="title"/>
          </p:nvPr>
        </p:nvSpPr>
        <p:spPr>
          <a:xfrm>
            <a:off x="828993" y="95845"/>
            <a:ext cx="10515601" cy="1325563"/>
          </a:xfrm>
          <a:prstGeom prst="rect">
            <a:avLst/>
          </a:prstGeom>
        </p:spPr>
        <p:txBody>
          <a:bodyPr/>
          <a:lstStyle>
            <a:lvl1pPr algn="ctr">
              <a:defRPr>
                <a:latin typeface="Times New Roman"/>
                <a:ea typeface="Times New Roman"/>
                <a:cs typeface="Times New Roman"/>
                <a:sym typeface="Times New Roman"/>
              </a:defRPr>
            </a:lvl1pPr>
          </a:lstStyle>
          <a:p>
            <a:r>
              <a:t>References</a:t>
            </a:r>
          </a:p>
        </p:txBody>
      </p:sp>
      <p:sp>
        <p:nvSpPr>
          <p:cNvPr id="270" name="TextBox 2"/>
          <p:cNvSpPr txBox="1"/>
          <p:nvPr/>
        </p:nvSpPr>
        <p:spPr>
          <a:xfrm>
            <a:off x="584072" y="1147819"/>
            <a:ext cx="11305903" cy="5016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numCol="2" spcCol="38099"/>
          <a:lstStyle/>
          <a:p>
            <a:pPr marL="342900" indent="-342900">
              <a:spcBef>
                <a:spcPts val="400"/>
              </a:spcBef>
              <a:buSzPts val="1200"/>
              <a:buAutoNum type="arabicPeriod"/>
              <a:defRPr sz="1200">
                <a:latin typeface="Times New Roman"/>
                <a:ea typeface="Times New Roman"/>
                <a:cs typeface="Times New Roman"/>
                <a:sym typeface="Times New Roman"/>
              </a:defRPr>
            </a:pPr>
            <a:r>
              <a:t>Alla Lo, Cheikh M. Bamba Dione, Elhadji Mamadou Nguer, Sileye O. Ba, &amp; Moussa Lo. (2020). Using LSTM Networks to Translate French to Senegalese Local Languages: Wolof as a Case Study. ArXiv: Computation and Language. </a:t>
            </a:r>
            <a:r>
              <a:rPr u="sng">
                <a:solidFill>
                  <a:srgbClr val="0563C1"/>
                </a:solidFill>
                <a:uFill>
                  <a:solidFill>
                    <a:srgbClr val="0563C1"/>
                  </a:solidFill>
                </a:uFill>
                <a:hlinkClick r:id="rId5"/>
              </a:rPr>
              <a:t>https://arxiv.org/pdf/2004.13840.pdf</a:t>
            </a:r>
          </a:p>
          <a:p>
            <a:pPr marL="342900" indent="-342900">
              <a:spcBef>
                <a:spcPts val="400"/>
              </a:spcBef>
              <a:buSzPts val="1200"/>
              <a:buAutoNum type="arabicPeriod"/>
              <a:defRPr sz="1200">
                <a:latin typeface="Times New Roman"/>
                <a:ea typeface="Times New Roman"/>
                <a:cs typeface="Times New Roman"/>
                <a:sym typeface="Times New Roman"/>
              </a:defRPr>
            </a:pPr>
            <a:r>
              <a:t>Bensalah, N., Ayad, H., Adib, A., &amp; Ibn El Farouk, A. (2021). LSTM vs. GRU for Arabic Machine Translation. Advances in Intelligent Systems and Computing, 156–165. </a:t>
            </a:r>
            <a:r>
              <a:rPr u="sng">
                <a:solidFill>
                  <a:srgbClr val="0563C1"/>
                </a:solidFill>
                <a:uFill>
                  <a:solidFill>
                    <a:srgbClr val="0563C1"/>
                  </a:solidFill>
                </a:uFill>
                <a:hlinkClick r:id="rId6"/>
              </a:rPr>
              <a:t>https://doi.org/10.1007/978-3-030-73689-7_16</a:t>
            </a:r>
          </a:p>
          <a:p>
            <a:pPr marL="342900" indent="-342900">
              <a:spcBef>
                <a:spcPts val="400"/>
              </a:spcBef>
              <a:buSzPts val="1200"/>
              <a:buAutoNum type="arabicPeriod"/>
              <a:defRPr sz="1200">
                <a:latin typeface="Times New Roman"/>
                <a:ea typeface="Times New Roman"/>
                <a:cs typeface="Times New Roman"/>
                <a:sym typeface="Times New Roman"/>
              </a:defRPr>
            </a:pPr>
            <a:r>
              <a:t>Bowman, M., Debray, S. K., &amp; Peterson, L. L. (1993). Reasoning about naming systems. ACM Trans. Program. Lang. Syst. 15, 5 (Nov. 1993), 795-825. DOI= </a:t>
            </a:r>
            <a:r>
              <a:rPr u="sng">
                <a:solidFill>
                  <a:srgbClr val="0563C1"/>
                </a:solidFill>
                <a:uFill>
                  <a:solidFill>
                    <a:srgbClr val="0563C1"/>
                  </a:solidFill>
                </a:uFill>
                <a:hlinkClick r:id="rId7"/>
              </a:rPr>
              <a:t>http://doi.acm.org/10.1145/161468.161471</a:t>
            </a:r>
            <a:r>
              <a:t>.</a:t>
            </a:r>
          </a:p>
          <a:p>
            <a:pPr marL="342900" indent="-342900">
              <a:spcBef>
                <a:spcPts val="400"/>
              </a:spcBef>
              <a:buSzPts val="1200"/>
              <a:buAutoNum type="arabicPeriod"/>
              <a:defRPr sz="1200">
                <a:latin typeface="Times New Roman"/>
                <a:ea typeface="Times New Roman"/>
                <a:cs typeface="Times New Roman"/>
                <a:sym typeface="Times New Roman"/>
              </a:defRPr>
            </a:pPr>
            <a:r>
              <a:t>Brown, L. D., Hua, H., &amp; Gao, C. (2003). A widget framework for augmented interaction in SCAPE. In Proceedings of the 16th Annual ACM Symposium on User interface Software and Technology (Vancouver, Canada, November 02 - 05, 2003). UIST '03. ACM Press, New York, NY, pp. 1–10. DOI= </a:t>
            </a:r>
            <a:r>
              <a:rPr u="sng">
                <a:solidFill>
                  <a:srgbClr val="0563C1"/>
                </a:solidFill>
                <a:uFill>
                  <a:solidFill>
                    <a:srgbClr val="0563C1"/>
                  </a:solidFill>
                </a:uFill>
                <a:hlinkClick r:id="rId8"/>
              </a:rPr>
              <a:t>http://doi.acm.org/10.1145/964696.964697</a:t>
            </a:r>
          </a:p>
          <a:p>
            <a:pPr marL="342900" indent="-342900">
              <a:spcBef>
                <a:spcPts val="400"/>
              </a:spcBef>
              <a:buSzPts val="1200"/>
              <a:buAutoNum type="arabicPeriod"/>
              <a:defRPr sz="1200">
                <a:latin typeface="Times New Roman"/>
                <a:ea typeface="Times New Roman"/>
                <a:cs typeface="Times New Roman"/>
                <a:sym typeface="Times New Roman"/>
              </a:defRPr>
            </a:pPr>
            <a:r>
              <a:t>Elfaik, H., &amp; Nfaoui, E. H. (2020). Deep Bidirectional LSTM Network Learning-Based Sentiment Analysis for Arabic Text. Journal of Intelligent Systems, 30(1), 395–412. </a:t>
            </a:r>
            <a:r>
              <a:rPr u="sng">
                <a:solidFill>
                  <a:srgbClr val="0563C1"/>
                </a:solidFill>
                <a:uFill>
                  <a:solidFill>
                    <a:srgbClr val="0563C1"/>
                  </a:solidFill>
                </a:uFill>
                <a:hlinkClick r:id="rId9"/>
              </a:rPr>
              <a:t>https://doi.org/10.1515/jisys-2020-0021</a:t>
            </a:r>
          </a:p>
          <a:p>
            <a:pPr marL="342900" indent="-342900">
              <a:spcBef>
                <a:spcPts val="400"/>
              </a:spcBef>
              <a:buSzPts val="1200"/>
              <a:buAutoNum type="arabicPeriod"/>
              <a:defRPr sz="1200">
                <a:latin typeface="Times New Roman"/>
                <a:ea typeface="Times New Roman"/>
                <a:cs typeface="Times New Roman"/>
                <a:sym typeface="Times New Roman"/>
              </a:defRPr>
            </a:pPr>
            <a:r>
              <a:t>Hang Thi-Thuy Do, Huy Duc Huynh, Kiet Van Nguyen, Ngan Luu-Thuy Nguyen, &amp; Anh Gia-Tuan Nguyen. (2019). Hate Speech Detection on Vietnamese Social Media Text using the Bidirectional-LSTM Model. ArXiv: Computation and Language. </a:t>
            </a:r>
            <a:r>
              <a:rPr u="sng">
                <a:solidFill>
                  <a:srgbClr val="0563C1"/>
                </a:solidFill>
                <a:uFill>
                  <a:solidFill>
                    <a:srgbClr val="0563C1"/>
                  </a:solidFill>
                </a:uFill>
                <a:hlinkClick r:id="rId10"/>
              </a:rPr>
              <a:t>https://arxiv.org/pdf/1911.03648</a:t>
            </a:r>
          </a:p>
          <a:p>
            <a:pPr marL="342900" indent="-342900">
              <a:spcBef>
                <a:spcPts val="400"/>
              </a:spcBef>
              <a:buSzPts val="1200"/>
              <a:buAutoNum type="arabicPeriod"/>
              <a:defRPr sz="1200">
                <a:latin typeface="Times New Roman"/>
                <a:ea typeface="Times New Roman"/>
                <a:cs typeface="Times New Roman"/>
                <a:sym typeface="Times New Roman"/>
              </a:defRPr>
            </a:pPr>
            <a:r>
              <a:t>Makarenkov, V., Rokach, L., &amp; Shapira, B. (2019). Choosing the right word: Using bidirectional LSTM tagger for writing support systems. Engineering Applications of Artificial Intelligence, 84, 1–10. </a:t>
            </a:r>
            <a:r>
              <a:rPr u="sng">
                <a:solidFill>
                  <a:srgbClr val="0563C1"/>
                </a:solidFill>
                <a:uFill>
                  <a:solidFill>
                    <a:srgbClr val="0563C1"/>
                  </a:solidFill>
                </a:uFill>
                <a:hlinkClick r:id="rId11"/>
              </a:rPr>
              <a:t>https://doi.org/10.1016/j.engappai.2019.05.003</a:t>
            </a:r>
          </a:p>
          <a:p>
            <a:pPr marL="342900" indent="-342900">
              <a:spcBef>
                <a:spcPts val="400"/>
              </a:spcBef>
              <a:buSzPts val="1200"/>
              <a:buAutoNum type="arabicPeriod"/>
              <a:defRPr sz="1200">
                <a:latin typeface="Times New Roman"/>
                <a:ea typeface="Times New Roman"/>
                <a:cs typeface="Times New Roman"/>
                <a:sym typeface="Times New Roman"/>
              </a:defRPr>
            </a:pPr>
            <a:r>
              <a:t>Mohaouchane, H., Mourhir, A., &amp; Nikolov, N. S. (2019). Detecting Offensive Language on Arabic Social Media Using Deep Learning. 2019 Sixth International Conference on Social Networks Analysis, Management and Security (SNAMS). </a:t>
            </a:r>
            <a:r>
              <a:rPr u="sng">
                <a:solidFill>
                  <a:srgbClr val="0563C1"/>
                </a:solidFill>
                <a:uFill>
                  <a:solidFill>
                    <a:srgbClr val="0563C1"/>
                  </a:solidFill>
                </a:uFill>
                <a:hlinkClick r:id="rId12"/>
              </a:rPr>
              <a:t>https://doi.org/10.1109/snams.2019.8931839</a:t>
            </a:r>
          </a:p>
          <a:p>
            <a:pPr marL="342900" indent="-342900">
              <a:spcBef>
                <a:spcPts val="400"/>
              </a:spcBef>
              <a:buSzPts val="1200"/>
              <a:buAutoNum type="arabicPeriod"/>
              <a:defRPr sz="1200">
                <a:latin typeface="Times New Roman"/>
                <a:ea typeface="Times New Roman"/>
                <a:cs typeface="Times New Roman"/>
                <a:sym typeface="Times New Roman"/>
              </a:defRPr>
            </a:pPr>
            <a:r>
              <a:t>Negia, M., Tamiru, R., &amp; Meshesha, M. (2022). Amharic-Kistanigna Bi-directional Machine Translation using Deep Learning. 2022 International Conference on Information and Communication Technology for Development for Africa (ICT4DA), 61-65. </a:t>
            </a:r>
            <a:r>
              <a:rPr u="sng">
                <a:solidFill>
                  <a:srgbClr val="0563C1"/>
                </a:solidFill>
                <a:uFill>
                  <a:solidFill>
                    <a:srgbClr val="0563C1"/>
                  </a:solidFill>
                </a:uFill>
                <a:hlinkClick r:id="rId13"/>
              </a:rPr>
              <a:t>https://doi.org/10.1109/ICT4DA56482.2022.9971194</a:t>
            </a:r>
            <a:r>
              <a:t>.</a:t>
            </a:r>
          </a:p>
          <a:p>
            <a:pPr marL="342900" indent="-342900">
              <a:spcBef>
                <a:spcPts val="400"/>
              </a:spcBef>
              <a:buSzPts val="1200"/>
              <a:buAutoNum type="arabicPeriod"/>
              <a:defRPr sz="1200">
                <a:latin typeface="Times New Roman"/>
                <a:ea typeface="Times New Roman"/>
                <a:cs typeface="Times New Roman"/>
                <a:sym typeface="Times New Roman"/>
              </a:defRPr>
            </a:pPr>
            <a:r>
              <a:t>Zhang, F., Xu, Shaohang. (2019).Short-Term Vehicle Speed Prediction Based on Convolutional Bidirectional LSTM Networks. </a:t>
            </a:r>
            <a:r>
              <a:rPr u="sng">
                <a:solidFill>
                  <a:srgbClr val="0563C1"/>
                </a:solidFill>
                <a:uFill>
                  <a:solidFill>
                    <a:srgbClr val="0563C1"/>
                  </a:solidFill>
                </a:uFill>
                <a:hlinkClick r:id="rId14"/>
              </a:rPr>
              <a:t>https://ieeexplore.ieee.org/stamp/stamp.jsp?arnumber=8865046</a:t>
            </a:r>
            <a:endParaRPr u="sng"/>
          </a:p>
          <a:p>
            <a:pPr marL="342900" indent="-342900">
              <a:spcBef>
                <a:spcPts val="400"/>
              </a:spcBef>
              <a:buSzPts val="1200"/>
              <a:buAutoNum type="arabicPeriod"/>
              <a:defRPr sz="1200">
                <a:latin typeface="Times New Roman"/>
                <a:ea typeface="Times New Roman"/>
                <a:cs typeface="Times New Roman"/>
                <a:sym typeface="Times New Roman"/>
              </a:defRPr>
            </a:pPr>
            <a:r>
              <a:t>VU, V. H., NGUYEN, Q. P., NGUYEN, K. H., SHIN, J. C., &amp; OCK, C. Y. (2020). Korean-Vietnamese Neural Machine Translation with Named Entity Recognition and Part-of-Speech Tags. IEICE Transactions on Information and Systems, E103.D(4), 866–873. </a:t>
            </a:r>
            <a:r>
              <a:rPr u="sng">
                <a:solidFill>
                  <a:srgbClr val="0563C1"/>
                </a:solidFill>
                <a:uFill>
                  <a:solidFill>
                    <a:srgbClr val="0563C1"/>
                  </a:solidFill>
                </a:uFill>
                <a:hlinkClick r:id="rId15"/>
              </a:rPr>
              <a:t>https://doi.org/10.1587/transinf.2019edp7154</a:t>
            </a:r>
            <a:endParaRPr u="sng"/>
          </a:p>
          <a:p>
            <a:pPr marL="342900" indent="-342900">
              <a:spcBef>
                <a:spcPts val="400"/>
              </a:spcBef>
              <a:buSzPts val="1200"/>
              <a:buAutoNum type="arabicPeriod"/>
              <a:defRPr sz="1200">
                <a:latin typeface="Times New Roman"/>
                <a:ea typeface="Times New Roman"/>
                <a:cs typeface="Times New Roman"/>
                <a:sym typeface="Times New Roman"/>
              </a:defRPr>
            </a:pPr>
            <a:r>
              <a:t>Y.T. Yu, M.F. Lau, "A comparison of MC/DC, MUMCUT and several other coverage criteria for logical decisions," Journal of Systems and Software, 2005, in press.</a:t>
            </a:r>
          </a:p>
          <a:p>
            <a:pPr marL="342900" indent="-342900">
              <a:spcBef>
                <a:spcPts val="400"/>
              </a:spcBef>
              <a:buSzPts val="1200"/>
              <a:buAutoNum type="arabicPeriod"/>
              <a:defRPr sz="1200">
                <a:latin typeface="Times New Roman"/>
                <a:ea typeface="Times New Roman"/>
                <a:cs typeface="Times New Roman"/>
                <a:sym typeface="Times New Roman"/>
              </a:defRPr>
            </a:pPr>
            <a:r>
              <a:t>Zhiheng Huang, Peng Xu, Davis Liang, Ajay Mishra, &amp; Bing Xiang. (2020b). TRANS-BLSTM: Transformer with Bidirectional LSTM for Language Understanding. ArXiv: Computation and Language.</a:t>
            </a:r>
          </a:p>
          <a:p>
            <a:pPr marL="342900" indent="-342900">
              <a:spcBef>
                <a:spcPts val="400"/>
              </a:spcBef>
              <a:buSzPts val="1200"/>
              <a:buAutoNum type="arabicPeriod"/>
              <a:defRPr sz="1200">
                <a:latin typeface="Times New Roman"/>
                <a:ea typeface="Times New Roman"/>
                <a:cs typeface="Times New Roman"/>
                <a:sym typeface="Times New Roman"/>
              </a:defRPr>
            </a:pPr>
            <a:r>
              <a:t>Tokenex (2022). What is Tokenization? From https://www.tokenex.com/blog/what-is-tokenization/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Picture 3" descr="Picture 3"/>
          <p:cNvPicPr>
            <a:picLocks noChangeAspect="1"/>
          </p:cNvPicPr>
          <p:nvPr/>
        </p:nvPicPr>
        <p:blipFill>
          <a:blip r:embed="rId2"/>
          <a:stretch>
            <a:fillRect/>
          </a:stretch>
        </p:blipFill>
        <p:spPr>
          <a:xfrm>
            <a:off x="0" y="346966"/>
            <a:ext cx="12192000" cy="6858001"/>
          </a:xfrm>
          <a:prstGeom prst="rect">
            <a:avLst/>
          </a:prstGeom>
          <a:ln w="12700">
            <a:miter lim="400000"/>
          </a:ln>
        </p:spPr>
      </p:pic>
      <p:grpSp>
        <p:nvGrpSpPr>
          <p:cNvPr id="275" name="Rectangle 6"/>
          <p:cNvGrpSpPr/>
          <p:nvPr/>
        </p:nvGrpSpPr>
        <p:grpSpPr>
          <a:xfrm>
            <a:off x="0" y="6217525"/>
            <a:ext cx="8498542" cy="411528"/>
            <a:chOff x="0" y="0"/>
            <a:chExt cx="8498541" cy="411527"/>
          </a:xfrm>
        </p:grpSpPr>
        <p:sp>
          <p:nvSpPr>
            <p:cNvPr id="273"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74"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76" name="Picture 5" descr="Picture 5"/>
          <p:cNvPicPr>
            <a:picLocks noChangeAspect="1"/>
          </p:cNvPicPr>
          <p:nvPr/>
        </p:nvPicPr>
        <p:blipFill>
          <a:blip r:embed="rId3"/>
          <a:stretch>
            <a:fillRect/>
          </a:stretch>
        </p:blipFill>
        <p:spPr>
          <a:xfrm>
            <a:off x="256304" y="5973207"/>
            <a:ext cx="847327" cy="834190"/>
          </a:xfrm>
          <a:prstGeom prst="rect">
            <a:avLst/>
          </a:prstGeom>
          <a:ln w="12700">
            <a:miter lim="400000"/>
          </a:ln>
        </p:spPr>
      </p:pic>
      <p:pic>
        <p:nvPicPr>
          <p:cNvPr id="277" name="Picture 2" descr="Picture 2"/>
          <p:cNvPicPr>
            <a:picLocks noChangeAspect="1"/>
          </p:cNvPicPr>
          <p:nvPr/>
        </p:nvPicPr>
        <p:blipFill>
          <a:blip r:embed="rId4"/>
          <a:srcRect r="77606" b="84977"/>
          <a:stretch>
            <a:fillRect/>
          </a:stretch>
        </p:blipFill>
        <p:spPr>
          <a:xfrm>
            <a:off x="-1" y="-1"/>
            <a:ext cx="1657987" cy="834190"/>
          </a:xfrm>
          <a:prstGeom prst="rect">
            <a:avLst/>
          </a:prstGeom>
          <a:ln w="12700">
            <a:miter lim="400000"/>
          </a:ln>
        </p:spPr>
      </p:pic>
      <p:sp>
        <p:nvSpPr>
          <p:cNvPr id="278" name="Title 8"/>
          <p:cNvSpPr txBox="1">
            <a:spLocks noGrp="1"/>
          </p:cNvSpPr>
          <p:nvPr>
            <p:ph type="title"/>
          </p:nvPr>
        </p:nvSpPr>
        <p:spPr>
          <a:xfrm>
            <a:off x="828993" y="95845"/>
            <a:ext cx="10515601" cy="1325563"/>
          </a:xfrm>
          <a:prstGeom prst="rect">
            <a:avLst/>
          </a:prstGeom>
        </p:spPr>
        <p:txBody>
          <a:bodyPr/>
          <a:lstStyle>
            <a:lvl1pPr algn="ctr">
              <a:defRPr>
                <a:latin typeface="Times New Roman"/>
                <a:ea typeface="Times New Roman"/>
                <a:cs typeface="Times New Roman"/>
                <a:sym typeface="Times New Roman"/>
              </a:defRPr>
            </a:lvl1pPr>
          </a:lstStyle>
          <a:p>
            <a:r>
              <a:t>References</a:t>
            </a:r>
          </a:p>
        </p:txBody>
      </p:sp>
      <p:sp>
        <p:nvSpPr>
          <p:cNvPr id="279" name="TextBox 2"/>
          <p:cNvSpPr txBox="1"/>
          <p:nvPr/>
        </p:nvSpPr>
        <p:spPr>
          <a:xfrm>
            <a:off x="584072" y="1147819"/>
            <a:ext cx="11305903" cy="48742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numCol="2" spcCol="38099"/>
          <a:lstStyle/>
          <a:p>
            <a:pPr marL="342900" indent="-342900">
              <a:spcBef>
                <a:spcPts val="400"/>
              </a:spcBef>
              <a:buSzPts val="1200"/>
              <a:buAutoNum type="arabicPeriod" startAt="15"/>
              <a:defRPr sz="1200">
                <a:latin typeface="Times New Roman"/>
                <a:ea typeface="Times New Roman"/>
                <a:cs typeface="Times New Roman"/>
                <a:sym typeface="Times New Roman"/>
              </a:defRPr>
            </a:pPr>
            <a:r>
              <a:t>Lopez, D. (2021). Text Normalization for Natural Language Processing (NLP). </a:t>
            </a:r>
            <a:r>
              <a:rPr u="sng">
                <a:solidFill>
                  <a:srgbClr val="0563C1"/>
                </a:solidFill>
                <a:uFill>
                  <a:solidFill>
                    <a:srgbClr val="0563C1"/>
                  </a:solidFill>
                </a:uFill>
                <a:hlinkClick r:id="rId5"/>
              </a:rPr>
              <a:t>https://towardsdatascience.com/text-normalization-for-natural-language-processing-nlp-70a314bfa646</a:t>
            </a:r>
          </a:p>
          <a:p>
            <a:pPr marL="342900" indent="-342900">
              <a:spcBef>
                <a:spcPts val="400"/>
              </a:spcBef>
              <a:buSzPts val="1200"/>
              <a:buAutoNum type="arabicPeriod" startAt="15"/>
              <a:defRPr sz="1200">
                <a:latin typeface="Times New Roman"/>
                <a:ea typeface="Times New Roman"/>
                <a:cs typeface="Times New Roman"/>
                <a:sym typeface="Times New Roman"/>
              </a:defRPr>
            </a:pPr>
            <a:r>
              <a:t>Minsoo, C., Jihwan, H., Chihyun, P., Sanghyun P. (2020). Combinatorial Feature embedding based on CNN and LSTM for biomedical named entity recognition. </a:t>
            </a:r>
            <a:r>
              <a:rPr u="sng">
                <a:solidFill>
                  <a:srgbClr val="0563C1"/>
                </a:solidFill>
                <a:uFill>
                  <a:solidFill>
                    <a:srgbClr val="0563C1"/>
                  </a:solidFill>
                </a:uFill>
                <a:hlinkClick r:id="rId6"/>
              </a:rPr>
              <a:t>https://www.sciencedirect.com/science/article/pii/S1532046420300083</a:t>
            </a:r>
            <a:r>
              <a:t> </a:t>
            </a:r>
          </a:p>
          <a:p>
            <a:pPr marL="342900" indent="-342900">
              <a:spcBef>
                <a:spcPts val="400"/>
              </a:spcBef>
              <a:buSzPts val="1200"/>
              <a:buAutoNum type="arabicPeriod" startAt="15"/>
              <a:defRPr sz="1200">
                <a:latin typeface="Times New Roman"/>
                <a:ea typeface="Times New Roman"/>
                <a:cs typeface="Times New Roman"/>
                <a:sym typeface="Times New Roman"/>
              </a:defRPr>
            </a:pPr>
            <a:r>
              <a:t>Labach, A., Salehinejad, H., Valaee, S., (2019) Survey of Dropout Methods for Deep Neural Networks. </a:t>
            </a:r>
            <a:r>
              <a:rPr u="sng">
                <a:solidFill>
                  <a:srgbClr val="0563C1"/>
                </a:solidFill>
                <a:uFill>
                  <a:solidFill>
                    <a:srgbClr val="0563C1"/>
                  </a:solidFill>
                </a:uFill>
                <a:hlinkClick r:id="rId7"/>
              </a:rPr>
              <a:t>https://arxiv.org/pdf/1904.13310.pdf</a:t>
            </a:r>
          </a:p>
          <a:p>
            <a:pPr marL="342900" indent="-342900">
              <a:spcBef>
                <a:spcPts val="400"/>
              </a:spcBef>
              <a:buSzPts val="1200"/>
              <a:buAutoNum type="arabicPeriod" startAt="15"/>
              <a:defRPr sz="1200">
                <a:latin typeface="Times New Roman"/>
                <a:ea typeface="Times New Roman"/>
                <a:cs typeface="Times New Roman"/>
                <a:sym typeface="Times New Roman"/>
              </a:defRPr>
            </a:pPr>
            <a:r>
              <a:t>Josephine, H., Nirmala, A.P., Alluri, V. L. Impact of Hidden Dense Layers in Convolutional Neural Network to enhance Performance of Classification Model. </a:t>
            </a:r>
            <a:r>
              <a:rPr u="sng">
                <a:solidFill>
                  <a:srgbClr val="0563C1"/>
                </a:solidFill>
                <a:uFill>
                  <a:solidFill>
                    <a:srgbClr val="0563C1"/>
                  </a:solidFill>
                </a:uFill>
                <a:hlinkClick r:id="rId8"/>
              </a:rPr>
              <a:t>https://iopscience.iop.org/article/10.1088/1757-899X/1131/1/012007/pdf</a:t>
            </a:r>
          </a:p>
          <a:p>
            <a:pPr marL="342900" indent="-342900">
              <a:spcBef>
                <a:spcPts val="400"/>
              </a:spcBef>
              <a:buSzPts val="1200"/>
              <a:buAutoNum type="arabicPeriod" startAt="15"/>
              <a:defRPr sz="1200">
                <a:latin typeface="Times New Roman"/>
                <a:ea typeface="Times New Roman"/>
                <a:cs typeface="Times New Roman"/>
                <a:sym typeface="Times New Roman"/>
              </a:defRPr>
            </a:pPr>
            <a:r>
              <a:t>Brown, P., Pietra, V., Pietra, S., Mercer, R. The Mathematics of Statistical Machine Translation: Estimation.</a:t>
            </a:r>
            <a:r>
              <a:rPr u="sng">
                <a:solidFill>
                  <a:srgbClr val="0563C1"/>
                </a:solidFill>
                <a:uFill>
                  <a:solidFill>
                    <a:srgbClr val="0563C1"/>
                  </a:solidFill>
                </a:uFill>
                <a:hlinkClick r:id="rId9"/>
              </a:rPr>
              <a:t>https://aclanthology.org/J93-2003.pdf</a:t>
            </a:r>
          </a:p>
          <a:p>
            <a:pPr marL="342900" indent="-342900">
              <a:spcBef>
                <a:spcPts val="400"/>
              </a:spcBef>
              <a:buSzPts val="1200"/>
              <a:buAutoNum type="arabicPeriod" startAt="15"/>
              <a:defRPr sz="1200">
                <a:latin typeface="Times New Roman"/>
                <a:ea typeface="Times New Roman"/>
                <a:cs typeface="Times New Roman"/>
                <a:sym typeface="Times New Roman"/>
              </a:defRPr>
            </a:pPr>
            <a:r>
              <a:t>Tan, Z. Et al. Neural machine translation: A review of method, resources, and tools. </a:t>
            </a:r>
            <a:r>
              <a:rPr u="sng">
                <a:solidFill>
                  <a:srgbClr val="0563C1"/>
                </a:solidFill>
                <a:uFill>
                  <a:solidFill>
                    <a:srgbClr val="0563C1"/>
                  </a:solidFill>
                </a:uFill>
                <a:hlinkClick r:id="rId10"/>
              </a:rPr>
              <a:t>https://www.sciencedirect.com/science/article/pii/S2666651020300024</a:t>
            </a:r>
          </a:p>
          <a:p>
            <a:pPr marL="342900" indent="-342900">
              <a:spcBef>
                <a:spcPts val="400"/>
              </a:spcBef>
              <a:buSzPts val="1200"/>
              <a:buAutoNum type="arabicPeriod" startAt="15"/>
              <a:defRPr sz="1200">
                <a:latin typeface="Times New Roman"/>
                <a:ea typeface="Times New Roman"/>
                <a:cs typeface="Times New Roman"/>
                <a:sym typeface="Times New Roman"/>
              </a:defRPr>
            </a:pPr>
            <a:r>
              <a:t>Bonet, I, C . Statistical Machine Translation A practical Tutorial. </a:t>
            </a:r>
            <a:r>
              <a:rPr u="sng">
                <a:solidFill>
                  <a:srgbClr val="0563C1"/>
                </a:solidFill>
                <a:uFill>
                  <a:solidFill>
                    <a:srgbClr val="0563C1"/>
                  </a:solidFill>
                </a:uFill>
                <a:hlinkClick r:id="rId11"/>
              </a:rPr>
              <a:t>https://www.cs.upc.edu/~cristinae/CV/docs/tutorialSMTprint.pdf</a:t>
            </a:r>
          </a:p>
          <a:p>
            <a:pPr marL="342900" indent="-342900">
              <a:spcBef>
                <a:spcPts val="400"/>
              </a:spcBef>
              <a:buSzPts val="1200"/>
              <a:buAutoNum type="arabicPeriod" startAt="15"/>
              <a:defRPr sz="1200">
                <a:latin typeface="Times New Roman"/>
                <a:ea typeface="Times New Roman"/>
                <a:cs typeface="Times New Roman"/>
                <a:sym typeface="Times New Roman"/>
              </a:defRPr>
            </a:pPr>
            <a:r>
              <a:t>Srivastav, A. Normalization Formula. </a:t>
            </a:r>
            <a:r>
              <a:rPr u="sng">
                <a:solidFill>
                  <a:srgbClr val="0563C1"/>
                </a:solidFill>
                <a:uFill>
                  <a:solidFill>
                    <a:srgbClr val="0563C1"/>
                  </a:solidFill>
                </a:uFill>
                <a:hlinkClick r:id="rId12"/>
              </a:rPr>
              <a:t>https://www.wallstreetmojo.com/normalization-formula/</a:t>
            </a:r>
          </a:p>
          <a:p>
            <a:pPr marL="342900" indent="-342900">
              <a:spcBef>
                <a:spcPts val="400"/>
              </a:spcBef>
              <a:buSzPts val="1200"/>
              <a:buAutoNum type="arabicPeriod" startAt="15"/>
              <a:defRPr sz="1200">
                <a:latin typeface="Times New Roman"/>
                <a:ea typeface="Times New Roman"/>
                <a:cs typeface="Times New Roman"/>
                <a:sym typeface="Times New Roman"/>
              </a:defRPr>
            </a:pPr>
            <a:r>
              <a:t>Och, F., Ney H. Improved Statistical Alignment Models. </a:t>
            </a:r>
            <a:r>
              <a:rPr u="sng">
                <a:solidFill>
                  <a:srgbClr val="0563C1"/>
                </a:solidFill>
                <a:uFill>
                  <a:solidFill>
                    <a:srgbClr val="0563C1"/>
                  </a:solidFill>
                </a:uFill>
                <a:hlinkClick r:id="rId13"/>
              </a:rPr>
              <a:t>https://aclanthology.org/P00-1056.pdf</a:t>
            </a:r>
          </a:p>
          <a:p>
            <a:pPr marL="342900" indent="-342900">
              <a:spcBef>
                <a:spcPts val="400"/>
              </a:spcBef>
              <a:buSzPts val="1200"/>
              <a:buAutoNum type="arabicPeriod" startAt="15"/>
              <a:defRPr sz="1200">
                <a:latin typeface="Times New Roman"/>
                <a:ea typeface="Times New Roman"/>
                <a:cs typeface="Times New Roman"/>
                <a:sym typeface="Times New Roman"/>
              </a:defRPr>
            </a:pPr>
            <a:r>
              <a:t>Oorja. (2020). Stackoverflow Q/A, what is the difference between bigram and unigram text feature extraction. Online: </a:t>
            </a:r>
            <a:r>
              <a:rPr u="sng">
                <a:solidFill>
                  <a:srgbClr val="0563C1"/>
                </a:solidFill>
                <a:uFill>
                  <a:solidFill>
                    <a:srgbClr val="0563C1"/>
                  </a:solidFill>
                </a:uFill>
                <a:hlinkClick r:id="rId14"/>
              </a:rPr>
              <a:t>https://stackoverflow.com/questions/43463792/what-is-the-difference-between-bigram-and-unigram-text-features-extraction</a:t>
            </a:r>
            <a:endParaRPr u="sng"/>
          </a:p>
          <a:p>
            <a:pPr marL="342900" indent="-342900">
              <a:spcBef>
                <a:spcPts val="400"/>
              </a:spcBef>
              <a:buSzPts val="1200"/>
              <a:buAutoNum type="arabicPeriod" startAt="15"/>
              <a:defRPr sz="1200">
                <a:latin typeface="Times New Roman"/>
                <a:ea typeface="Times New Roman"/>
                <a:cs typeface="Times New Roman"/>
                <a:sym typeface="Times New Roman"/>
              </a:defRPr>
            </a:pPr>
            <a:r>
              <a:t>Tran, H., Tran, H,. Nguyen, S., Nguyen, H., &amp; Nguyen, T. (2019). Does BLEU Score work for Code Migration? 2019 IEEE/ACM 27</a:t>
            </a:r>
            <a:r>
              <a:rPr baseline="30000"/>
              <a:t>th</a:t>
            </a:r>
            <a:r>
              <a:t> International Conference on Program Comprehension (ICPC), 165-176. </a:t>
            </a:r>
            <a:r>
              <a:rPr u="sng">
                <a:solidFill>
                  <a:srgbClr val="0563C1"/>
                </a:solidFill>
                <a:uFill>
                  <a:solidFill>
                    <a:srgbClr val="0563C1"/>
                  </a:solidFill>
                </a:uFill>
                <a:hlinkClick r:id="rId15"/>
              </a:rPr>
              <a:t>https://doi.org/10.1109/ICPC.2019.00034</a:t>
            </a:r>
            <a:r>
              <a:t>. </a:t>
            </a:r>
          </a:p>
          <a:p>
            <a:pPr marL="342900" indent="-342900">
              <a:spcBef>
                <a:spcPts val="400"/>
              </a:spcBef>
              <a:buSzPts val="1200"/>
              <a:buAutoNum type="arabicPeriod" startAt="15"/>
              <a:defRPr sz="1200">
                <a:latin typeface="Times New Roman"/>
                <a:ea typeface="Times New Roman"/>
                <a:cs typeface="Times New Roman"/>
                <a:sym typeface="Times New Roman"/>
              </a:defRPr>
            </a:pPr>
            <a:r>
              <a:t>Google Cloud. Guides, Evaluating Model, Understanding the BLEU Score. From </a:t>
            </a:r>
            <a:r>
              <a:rPr u="sng">
                <a:solidFill>
                  <a:srgbClr val="0563C1"/>
                </a:solidFill>
                <a:uFill>
                  <a:solidFill>
                    <a:srgbClr val="0563C1"/>
                  </a:solidFill>
                </a:uFill>
                <a:hlinkClick r:id="rId16"/>
              </a:rPr>
              <a:t>https://cloud.google.com/translate/automl/docs/evaluate#:~:text=BLEU%20(BiLingual%20Evaluation%20Understudy)%20is,of%20high%20quality%20reference%20translations</a:t>
            </a:r>
            <a:r>
              <a:t>.</a:t>
            </a:r>
          </a:p>
          <a:p>
            <a:pPr marL="228600" indent="-228600">
              <a:buSzPct val="100000"/>
              <a:buAutoNum type="arabicPeriod" startAt="27"/>
              <a:defRPr sz="1200">
                <a:latin typeface="Times New Roman"/>
                <a:ea typeface="Times New Roman"/>
                <a:cs typeface="Times New Roman"/>
                <a:sym typeface="Times New Roman"/>
              </a:defRPr>
            </a:pPr>
            <a:r>
              <a:t>The Difference between Statistical and Neural Machine Translation. From </a:t>
            </a:r>
            <a:r>
              <a:rPr u="sng">
                <a:solidFill>
                  <a:srgbClr val="0563C1"/>
                </a:solidFill>
                <a:uFill>
                  <a:solidFill>
                    <a:srgbClr val="0563C1"/>
                  </a:solidFill>
                </a:uFill>
                <a:hlinkClick r:id="rId17"/>
              </a:rPr>
              <a:t>https://www.prestigenetwork.com/insights/the-difference-between-statistical-and-neural-machine-translation/</a:t>
            </a:r>
            <a:r>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Title 1"/>
          <p:cNvSpPr txBox="1">
            <a:spLocks noGrp="1"/>
          </p:cNvSpPr>
          <p:nvPr>
            <p:ph type="title"/>
          </p:nvPr>
        </p:nvSpPr>
        <p:spPr>
          <a:prstGeom prst="rect">
            <a:avLst/>
          </a:prstGeom>
        </p:spPr>
        <p:txBody>
          <a:bodyPr/>
          <a:lstStyle/>
          <a:p>
            <a:endParaRPr/>
          </a:p>
        </p:txBody>
      </p:sp>
      <p:pic>
        <p:nvPicPr>
          <p:cNvPr id="282" name="Content Placeholder 3" descr="Content Placeholder 3"/>
          <p:cNvPicPr>
            <a:picLocks noChangeAspect="1"/>
          </p:cNvPicPr>
          <p:nvPr/>
        </p:nvPicPr>
        <p:blipFill>
          <a:blip r:embed="rId2"/>
          <a:stretch>
            <a:fillRect/>
          </a:stretch>
        </p:blipFill>
        <p:spPr>
          <a:xfrm>
            <a:off x="0" y="0"/>
            <a:ext cx="12237720" cy="6884670"/>
          </a:xfrm>
          <a:prstGeom prst="rect">
            <a:avLst/>
          </a:prstGeom>
          <a:ln w="12700">
            <a:miter lim="400000"/>
          </a:ln>
        </p:spPr>
      </p:pic>
      <p:pic>
        <p:nvPicPr>
          <p:cNvPr id="283" name="Picture 2" descr="Picture 2"/>
          <p:cNvPicPr>
            <a:picLocks noChangeAspect="1"/>
          </p:cNvPicPr>
          <p:nvPr/>
        </p:nvPicPr>
        <p:blipFill>
          <a:blip r:embed="rId3"/>
          <a:srcRect r="77606" b="84977"/>
          <a:stretch>
            <a:fillRect/>
          </a:stretch>
        </p:blipFill>
        <p:spPr>
          <a:xfrm>
            <a:off x="3906201" y="1265293"/>
            <a:ext cx="4379596" cy="2204086"/>
          </a:xfrm>
          <a:prstGeom prst="rect">
            <a:avLst/>
          </a:prstGeom>
          <a:ln w="12700">
            <a:miter lim="400000"/>
          </a:ln>
        </p:spPr>
      </p:pic>
      <p:grpSp>
        <p:nvGrpSpPr>
          <p:cNvPr id="288" name="Group 2"/>
          <p:cNvGrpSpPr/>
          <p:nvPr/>
        </p:nvGrpSpPr>
        <p:grpSpPr>
          <a:xfrm>
            <a:off x="2656115" y="3428999"/>
            <a:ext cx="8498542" cy="1413891"/>
            <a:chOff x="0" y="0"/>
            <a:chExt cx="8498541" cy="1413889"/>
          </a:xfrm>
        </p:grpSpPr>
        <p:grpSp>
          <p:nvGrpSpPr>
            <p:cNvPr id="286" name="Rectangle 4"/>
            <p:cNvGrpSpPr/>
            <p:nvPr/>
          </p:nvGrpSpPr>
          <p:grpSpPr>
            <a:xfrm>
              <a:off x="0" y="1002362"/>
              <a:ext cx="8498542" cy="411528"/>
              <a:chOff x="0" y="0"/>
              <a:chExt cx="8498541" cy="411527"/>
            </a:xfrm>
          </p:grpSpPr>
          <p:sp>
            <p:nvSpPr>
              <p:cNvPr id="284" name="Rectangle"/>
              <p:cNvSpPr/>
              <p:nvPr/>
            </p:nvSpPr>
            <p:spPr>
              <a:xfrm>
                <a:off x="0" y="-1"/>
                <a:ext cx="8498542" cy="411529"/>
              </a:xfrm>
              <a:prstGeom prst="rect">
                <a:avLst/>
              </a:prstGeom>
              <a:solidFill>
                <a:srgbClr val="FFFFFF">
                  <a:alpha val="58000"/>
                </a:srgbClr>
              </a:solidFill>
              <a:ln w="12700" cap="flat">
                <a:noFill/>
                <a:miter lim="400000"/>
              </a:ln>
              <a:effectLst/>
            </p:spPr>
            <p:txBody>
              <a:bodyPr wrap="square" lIns="45719" tIns="45719" rIns="45719" bIns="45719" numCol="1" anchor="ctr">
                <a:noAutofit/>
              </a:bodyPr>
              <a:lstStyle/>
              <a:p>
                <a:pPr>
                  <a:defRPr sz="1400" spc="300">
                    <a:solidFill>
                      <a:srgbClr val="3B3838"/>
                    </a:solidFill>
                    <a:latin typeface="Goudy Old Style"/>
                    <a:ea typeface="Goudy Old Style"/>
                    <a:cs typeface="Goudy Old Style"/>
                    <a:sym typeface="Goudy Old Style"/>
                  </a:defRPr>
                </a:pPr>
                <a:endParaRPr/>
              </a:p>
            </p:txBody>
          </p:sp>
          <p:sp>
            <p:nvSpPr>
              <p:cNvPr id="285" name="COLLEGE OF COMPUTING EDUCATION"/>
              <p:cNvSpPr txBox="1"/>
              <p:nvPr/>
            </p:nvSpPr>
            <p:spPr>
              <a:xfrm>
                <a:off x="45720" y="45743"/>
                <a:ext cx="8407102"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1400" spc="300">
                    <a:solidFill>
                      <a:srgbClr val="3B3838"/>
                    </a:solidFill>
                    <a:latin typeface="Goudy Old Style"/>
                    <a:ea typeface="Goudy Old Style"/>
                    <a:cs typeface="Goudy Old Style"/>
                    <a:sym typeface="Goudy Old Style"/>
                  </a:defRPr>
                </a:lvl1pPr>
              </a:lstStyle>
              <a:p>
                <a:r>
                  <a:t>	   COLLEGE OF COMPUTING EDUCATION</a:t>
                </a:r>
              </a:p>
            </p:txBody>
          </p:sp>
        </p:grpSp>
        <p:pic>
          <p:nvPicPr>
            <p:cNvPr id="287" name="Picture 5" descr="Picture 5"/>
            <p:cNvPicPr>
              <a:picLocks noChangeAspect="1"/>
            </p:cNvPicPr>
            <p:nvPr/>
          </p:nvPicPr>
          <p:blipFill>
            <a:blip r:embed="rId4"/>
            <a:stretch>
              <a:fillRect/>
            </a:stretch>
          </p:blipFill>
          <p:spPr>
            <a:xfrm>
              <a:off x="2948914" y="-1"/>
              <a:ext cx="847327" cy="834190"/>
            </a:xfrm>
            <a:prstGeom prst="rect">
              <a:avLst/>
            </a:prstGeom>
            <a:ln w="12700" cap="flat">
              <a:noFill/>
              <a:miter lim="400000"/>
            </a:ln>
            <a:effectLst/>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a14="http://schemas.microsoft.com/office/drawing/2010/main" xmlns:m="http://schemas.openxmlformats.org/officeDocument/2006/math"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2727</Words>
  <Application>Microsoft Office PowerPoint</Application>
  <PresentationFormat>Widescreen</PresentationFormat>
  <Paragraphs>152</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Helvetica Neue</vt:lpstr>
      <vt:lpstr>Times New Roman</vt:lpstr>
      <vt:lpstr>Office Theme</vt:lpstr>
      <vt:lpstr>A Deep Learning-Enhanced Statistical Machine Translation of Filipino Local Languages  </vt:lpstr>
      <vt:lpstr>Background of the Study</vt:lpstr>
      <vt:lpstr>Background of the Study</vt:lpstr>
      <vt:lpstr>The Objectives</vt:lpstr>
      <vt:lpstr>Review of Related Literature</vt:lpstr>
      <vt:lpstr>Baseline Model</vt:lpstr>
      <vt:lpstr>Proposed Model</vt:lpstr>
      <vt:lpstr>Feature Selection, Extraction, and Categorization</vt:lpstr>
      <vt:lpstr>Data Cleaning and Preprocessing</vt:lpstr>
      <vt:lpstr>Software Demo</vt:lpstr>
      <vt:lpstr>Results &amp; Discussion</vt:lpstr>
      <vt:lpstr>Results &amp; Discussion</vt:lpstr>
      <vt:lpstr>Conclusion</vt:lpstr>
      <vt:lpstr>PowerPoint Presentation</vt:lpstr>
      <vt:lpstr>Recommendation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Tom Andre Misa</cp:lastModifiedBy>
  <cp:revision>1</cp:revision>
  <dcterms:modified xsi:type="dcterms:W3CDTF">2025-06-19T06:40:05Z</dcterms:modified>
</cp:coreProperties>
</file>